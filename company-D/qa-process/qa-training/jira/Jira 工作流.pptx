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7917f8cb0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7917f8cb0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紅色是RD切的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藍色是QA/PM切的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7917f8cb0d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7917f8cb0d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紅色是RD切的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藍色是QA/PM切的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7917f8cb0d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7917f8cb0d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zh-TW" sz="1200">
                <a:latin typeface="Lato"/>
                <a:ea typeface="Lato"/>
                <a:cs typeface="Lato"/>
                <a:sym typeface="Lato"/>
              </a:rPr>
              <a:t>Regression 是不好修正或不好驗證的狀態，需觀察1-2sprint，是專案情況而定</a:t>
            </a:r>
            <a:endParaRPr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7917f8cb0d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7917f8cb0d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主要5個，QA只開前兩個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後面的再視情況增加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api-task給RD開API用的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improvement則是產品後續優化用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7917f8cb0d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7917f8cb0d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latin typeface="Lato"/>
                <a:ea typeface="Lato"/>
                <a:cs typeface="Lato"/>
                <a:sym typeface="Lato"/>
              </a:rPr>
              <a:t>A,B,C are the employee belong to company, &lt;colleague&gt;, which is in Taiwan, set as group ALPHA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latin typeface="Lato"/>
                <a:ea typeface="Lato"/>
                <a:cs typeface="Lato"/>
                <a:sym typeface="Lato"/>
              </a:rPr>
              <a:t>D,E,F  are the employee belong to company, &lt;colleague&gt;, which is in Taiwan, set as group BETA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latin typeface="Lato"/>
                <a:ea typeface="Lato"/>
                <a:cs typeface="Lato"/>
                <a:sym typeface="Lato"/>
              </a:rPr>
              <a:t>G,H,I  are the employee belong to company, &lt;colleague&gt;, which is in  U.S.A., set as group GAMMA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30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The group ALPHA can see the project aa and bb,  the group BETA only can see the project cc, and the group GAMMA can’t see anything.</a:t>
            </a:r>
            <a:endParaRPr b="1" sz="130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latin typeface="Lato"/>
                <a:ea typeface="Lato"/>
                <a:cs typeface="Lato"/>
                <a:sym typeface="Lato"/>
              </a:rPr>
              <a:t>Other group : RD, QA, PM, ADMIN, ART</a:t>
            </a:r>
            <a:endParaRPr sz="1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latin typeface="Lato"/>
                <a:ea typeface="Lato"/>
                <a:cs typeface="Lato"/>
                <a:sym typeface="Lato"/>
              </a:rPr>
              <a:t>Every group can do different things.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6b7cdf4d7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6b7cdf4d7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jira flow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Not online project’s workflow</a:t>
            </a:r>
            <a:endParaRPr/>
          </a:p>
        </p:txBody>
      </p:sp>
      <p:sp>
        <p:nvSpPr>
          <p:cNvPr id="141" name="Google Shape;141;p14"/>
          <p:cNvSpPr/>
          <p:nvPr/>
        </p:nvSpPr>
        <p:spPr>
          <a:xfrm>
            <a:off x="1032750" y="1575450"/>
            <a:ext cx="1366800" cy="475800"/>
          </a:xfrm>
          <a:prstGeom prst="flowChartAlternateProcess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Open</a:t>
            </a:r>
            <a:endParaRPr/>
          </a:p>
        </p:txBody>
      </p:sp>
      <p:sp>
        <p:nvSpPr>
          <p:cNvPr id="142" name="Google Shape;142;p14"/>
          <p:cNvSpPr/>
          <p:nvPr/>
        </p:nvSpPr>
        <p:spPr>
          <a:xfrm>
            <a:off x="3095850" y="2881425"/>
            <a:ext cx="1366800" cy="475800"/>
          </a:xfrm>
          <a:prstGeom prst="flowChartAlternateProcess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38761D"/>
                </a:solidFill>
              </a:rPr>
              <a:t>R</a:t>
            </a:r>
            <a:r>
              <a:rPr b="1" lang="zh-TW">
                <a:solidFill>
                  <a:srgbClr val="38761D"/>
                </a:solidFill>
              </a:rPr>
              <a:t>esolved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3095850" y="1575438"/>
            <a:ext cx="1366800" cy="475800"/>
          </a:xfrm>
          <a:prstGeom prst="flowChartAlternateProcess">
            <a:avLst/>
          </a:prstGeom>
          <a:solidFill>
            <a:schemeClr val="dk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FFFF00"/>
                </a:solidFill>
              </a:rPr>
              <a:t>D</a:t>
            </a:r>
            <a:r>
              <a:rPr b="1" lang="zh-TW">
                <a:solidFill>
                  <a:srgbClr val="FFFF00"/>
                </a:solidFill>
              </a:rPr>
              <a:t>oing</a:t>
            </a:r>
            <a:endParaRPr b="1">
              <a:solidFill>
                <a:srgbClr val="FFFF00"/>
              </a:solidFill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5158950" y="2881425"/>
            <a:ext cx="1366800" cy="475800"/>
          </a:xfrm>
          <a:prstGeom prst="flowChartAlternateProcess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38761D"/>
                </a:solidFill>
              </a:rPr>
              <a:t>Closed</a:t>
            </a:r>
            <a:endParaRPr b="1">
              <a:solidFill>
                <a:srgbClr val="38761D"/>
              </a:solidFill>
            </a:endParaRPr>
          </a:p>
        </p:txBody>
      </p:sp>
      <p:cxnSp>
        <p:nvCxnSpPr>
          <p:cNvPr id="145" name="Google Shape;145;p14"/>
          <p:cNvCxnSpPr>
            <a:stCxn id="141" idx="3"/>
            <a:endCxn id="143" idx="1"/>
          </p:cNvCxnSpPr>
          <p:nvPr/>
        </p:nvCxnSpPr>
        <p:spPr>
          <a:xfrm>
            <a:off x="2399550" y="1813350"/>
            <a:ext cx="6963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46" name="Google Shape;146;p14"/>
          <p:cNvCxnSpPr>
            <a:stCxn id="143" idx="2"/>
            <a:endCxn id="142" idx="0"/>
          </p:cNvCxnSpPr>
          <p:nvPr/>
        </p:nvCxnSpPr>
        <p:spPr>
          <a:xfrm>
            <a:off x="3779250" y="2051238"/>
            <a:ext cx="0" cy="830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7" name="Google Shape;147;p14"/>
          <p:cNvCxnSpPr>
            <a:stCxn id="142" idx="3"/>
            <a:endCxn id="148" idx="1"/>
          </p:cNvCxnSpPr>
          <p:nvPr/>
        </p:nvCxnSpPr>
        <p:spPr>
          <a:xfrm>
            <a:off x="4462650" y="3119325"/>
            <a:ext cx="696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49" name="Google Shape;149;p14"/>
          <p:cNvSpPr/>
          <p:nvPr/>
        </p:nvSpPr>
        <p:spPr>
          <a:xfrm>
            <a:off x="1032750" y="2881425"/>
            <a:ext cx="1366800" cy="475800"/>
          </a:xfrm>
          <a:prstGeom prst="flowChartAlternateProcess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Reopen</a:t>
            </a:r>
            <a:endParaRPr/>
          </a:p>
        </p:txBody>
      </p:sp>
      <p:cxnSp>
        <p:nvCxnSpPr>
          <p:cNvPr id="150" name="Google Shape;150;p14"/>
          <p:cNvCxnSpPr>
            <a:stCxn id="149" idx="3"/>
            <a:endCxn id="142" idx="1"/>
          </p:cNvCxnSpPr>
          <p:nvPr/>
        </p:nvCxnSpPr>
        <p:spPr>
          <a:xfrm>
            <a:off x="2399550" y="3119325"/>
            <a:ext cx="696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51" name="Google Shape;151;p14"/>
          <p:cNvSpPr/>
          <p:nvPr/>
        </p:nvSpPr>
        <p:spPr>
          <a:xfrm>
            <a:off x="7020225" y="832050"/>
            <a:ext cx="1366800" cy="652500"/>
          </a:xfrm>
          <a:prstGeom prst="flowChartAlternateProcess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38761D"/>
                </a:solidFill>
              </a:rPr>
              <a:t>other resolved status</a:t>
            </a:r>
            <a:endParaRPr b="1">
              <a:solidFill>
                <a:srgbClr val="38761D"/>
              </a:solidFill>
            </a:endParaRPr>
          </a:p>
        </p:txBody>
      </p:sp>
      <p:cxnSp>
        <p:nvCxnSpPr>
          <p:cNvPr id="152" name="Google Shape;152;p14"/>
          <p:cNvCxnSpPr>
            <a:stCxn id="149" idx="0"/>
            <a:endCxn id="151" idx="2"/>
          </p:cNvCxnSpPr>
          <p:nvPr/>
        </p:nvCxnSpPr>
        <p:spPr>
          <a:xfrm flipH="1" rot="10800000">
            <a:off x="1716150" y="1484625"/>
            <a:ext cx="5987400" cy="1396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</a:t>
            </a:r>
            <a:r>
              <a:rPr lang="zh-TW"/>
              <a:t>nline project’s workflow</a:t>
            </a:r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1032750" y="1575450"/>
            <a:ext cx="1366800" cy="475800"/>
          </a:xfrm>
          <a:prstGeom prst="flowChartAlternateProcess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Open</a:t>
            </a:r>
            <a:endParaRPr/>
          </a:p>
        </p:txBody>
      </p:sp>
      <p:sp>
        <p:nvSpPr>
          <p:cNvPr id="159" name="Google Shape;159;p15"/>
          <p:cNvSpPr/>
          <p:nvPr/>
        </p:nvSpPr>
        <p:spPr>
          <a:xfrm>
            <a:off x="3095850" y="2881425"/>
            <a:ext cx="1366800" cy="475800"/>
          </a:xfrm>
          <a:prstGeom prst="flowChartAlternateProcess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38761D"/>
                </a:solidFill>
              </a:rPr>
              <a:t>Resolved</a:t>
            </a:r>
            <a:endParaRPr b="1">
              <a:solidFill>
                <a:srgbClr val="38761D"/>
              </a:solidFill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3095850" y="1575438"/>
            <a:ext cx="1366800" cy="475800"/>
          </a:xfrm>
          <a:prstGeom prst="flowChartAlternateProcess">
            <a:avLst/>
          </a:prstGeom>
          <a:solidFill>
            <a:schemeClr val="dk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FFFF00"/>
                </a:solidFill>
              </a:rPr>
              <a:t>Doing</a:t>
            </a:r>
            <a:endParaRPr b="1">
              <a:solidFill>
                <a:srgbClr val="FFFF00"/>
              </a:solidFill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5158950" y="2881425"/>
            <a:ext cx="1366800" cy="475800"/>
          </a:xfrm>
          <a:prstGeom prst="flowChartAlternateProcess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1155CC"/>
                </a:solidFill>
              </a:rPr>
              <a:t>UAT verified</a:t>
            </a:r>
            <a:endParaRPr b="1">
              <a:solidFill>
                <a:srgbClr val="1155CC"/>
              </a:solidFill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5158950" y="4009650"/>
            <a:ext cx="1366800" cy="475800"/>
          </a:xfrm>
          <a:prstGeom prst="flowChartAlternateProcess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38761D"/>
                </a:solidFill>
              </a:rPr>
              <a:t>Closed</a:t>
            </a:r>
            <a:endParaRPr b="1">
              <a:solidFill>
                <a:srgbClr val="38761D"/>
              </a:solidFill>
            </a:endParaRPr>
          </a:p>
        </p:txBody>
      </p:sp>
      <p:cxnSp>
        <p:nvCxnSpPr>
          <p:cNvPr id="163" name="Google Shape;163;p15"/>
          <p:cNvCxnSpPr>
            <a:stCxn id="158" idx="3"/>
            <a:endCxn id="160" idx="1"/>
          </p:cNvCxnSpPr>
          <p:nvPr/>
        </p:nvCxnSpPr>
        <p:spPr>
          <a:xfrm>
            <a:off x="2399550" y="1813350"/>
            <a:ext cx="6963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64" name="Google Shape;164;p15"/>
          <p:cNvCxnSpPr>
            <a:stCxn id="160" idx="2"/>
            <a:endCxn id="159" idx="0"/>
          </p:cNvCxnSpPr>
          <p:nvPr/>
        </p:nvCxnSpPr>
        <p:spPr>
          <a:xfrm>
            <a:off x="3779250" y="2051238"/>
            <a:ext cx="0" cy="830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5" name="Google Shape;165;p15"/>
          <p:cNvCxnSpPr>
            <a:stCxn id="159" idx="3"/>
            <a:endCxn id="161" idx="1"/>
          </p:cNvCxnSpPr>
          <p:nvPr/>
        </p:nvCxnSpPr>
        <p:spPr>
          <a:xfrm>
            <a:off x="4462650" y="3119325"/>
            <a:ext cx="696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stealth"/>
            <a:tailEnd len="med" w="med" type="stealth"/>
          </a:ln>
        </p:spPr>
      </p:cxnSp>
      <p:cxnSp>
        <p:nvCxnSpPr>
          <p:cNvPr id="166" name="Google Shape;166;p15"/>
          <p:cNvCxnSpPr>
            <a:stCxn id="162" idx="0"/>
            <a:endCxn id="161" idx="2"/>
          </p:cNvCxnSpPr>
          <p:nvPr/>
        </p:nvCxnSpPr>
        <p:spPr>
          <a:xfrm rot="10800000">
            <a:off x="5842350" y="3357150"/>
            <a:ext cx="0" cy="652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stealth"/>
            <a:tailEnd len="med" w="med" type="stealth"/>
          </a:ln>
        </p:spPr>
      </p:cxnSp>
      <p:sp>
        <p:nvSpPr>
          <p:cNvPr id="167" name="Google Shape;167;p15"/>
          <p:cNvSpPr/>
          <p:nvPr/>
        </p:nvSpPr>
        <p:spPr>
          <a:xfrm>
            <a:off x="1032750" y="2881425"/>
            <a:ext cx="1366800" cy="475800"/>
          </a:xfrm>
          <a:prstGeom prst="flowChartAlternateProcess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Reopen</a:t>
            </a:r>
            <a:endParaRPr/>
          </a:p>
        </p:txBody>
      </p:sp>
      <p:cxnSp>
        <p:nvCxnSpPr>
          <p:cNvPr id="168" name="Google Shape;168;p15"/>
          <p:cNvCxnSpPr>
            <a:stCxn id="167" idx="3"/>
            <a:endCxn id="159" idx="1"/>
          </p:cNvCxnSpPr>
          <p:nvPr/>
        </p:nvCxnSpPr>
        <p:spPr>
          <a:xfrm>
            <a:off x="2399550" y="3119325"/>
            <a:ext cx="6963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69" name="Google Shape;169;p15"/>
          <p:cNvSpPr/>
          <p:nvPr/>
        </p:nvSpPr>
        <p:spPr>
          <a:xfrm>
            <a:off x="7020225" y="832050"/>
            <a:ext cx="1366800" cy="652500"/>
          </a:xfrm>
          <a:prstGeom prst="flowChartAlternateProcess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>
                <a:solidFill>
                  <a:srgbClr val="38761D"/>
                </a:solidFill>
              </a:rPr>
              <a:t>other resolved status</a:t>
            </a:r>
            <a:endParaRPr b="1">
              <a:solidFill>
                <a:srgbClr val="38761D"/>
              </a:solidFill>
            </a:endParaRPr>
          </a:p>
        </p:txBody>
      </p:sp>
      <p:cxnSp>
        <p:nvCxnSpPr>
          <p:cNvPr id="170" name="Google Shape;170;p15"/>
          <p:cNvCxnSpPr>
            <a:stCxn id="167" idx="0"/>
            <a:endCxn id="169" idx="2"/>
          </p:cNvCxnSpPr>
          <p:nvPr/>
        </p:nvCxnSpPr>
        <p:spPr>
          <a:xfrm flipH="1" rot="10800000">
            <a:off x="1716150" y="1484625"/>
            <a:ext cx="5987400" cy="13968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Other resolved status</a:t>
            </a:r>
            <a:endParaRPr/>
          </a:p>
        </p:txBody>
      </p:sp>
      <p:sp>
        <p:nvSpPr>
          <p:cNvPr id="176" name="Google Shape;176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400">
                <a:solidFill>
                  <a:srgbClr val="38761D"/>
                </a:solidFill>
              </a:rPr>
              <a:t>Cannot reproduce</a:t>
            </a:r>
            <a:endParaRPr b="1" sz="14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zh-TW" sz="1400">
                <a:solidFill>
                  <a:srgbClr val="38761D"/>
                </a:solidFill>
              </a:rPr>
              <a:t>Duplicated</a:t>
            </a:r>
            <a:endParaRPr b="1" sz="14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zh-TW" sz="1400">
                <a:solidFill>
                  <a:srgbClr val="38761D"/>
                </a:solidFill>
              </a:rPr>
              <a:t>Not a bug</a:t>
            </a:r>
            <a:endParaRPr b="1" sz="14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zh-TW" sz="1400">
                <a:solidFill>
                  <a:srgbClr val="38761D"/>
                </a:solidFill>
              </a:rPr>
              <a:t>Won’t do</a:t>
            </a:r>
            <a:endParaRPr b="1" sz="14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zh-TW" sz="1400"/>
              <a:t>Regression</a:t>
            </a:r>
            <a:endParaRPr b="1"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Issue type flow</a:t>
            </a:r>
            <a:endParaRPr/>
          </a:p>
        </p:txBody>
      </p:sp>
      <p:sp>
        <p:nvSpPr>
          <p:cNvPr id="182" name="Google Shape;182;p17"/>
          <p:cNvSpPr txBox="1"/>
          <p:nvPr>
            <p:ph idx="1" type="body"/>
          </p:nvPr>
        </p:nvSpPr>
        <p:spPr>
          <a:xfrm>
            <a:off x="1297500" y="1136400"/>
            <a:ext cx="7038900" cy="35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400"/>
              <a:t>bug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zh-TW" sz="1400"/>
              <a:t>suggestion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zh-TW" sz="1400"/>
              <a:t>task - </a:t>
            </a:r>
            <a:r>
              <a:rPr lang="zh-TW" sz="1400"/>
              <a:t>前端/後端/網頁前端/企劃開的/DEVOPS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zh-TW" sz="1400"/>
              <a:t>Art - 2D/3D/靜態圖/動態圖/動畫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zh-TW" sz="1400"/>
              <a:t>RD - RD內部用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zh-TW" sz="1400"/>
              <a:t>DB - for DBA(須註明環境)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zh-TW" sz="1400"/>
              <a:t>epic - </a:t>
            </a:r>
            <a:r>
              <a:rPr lang="zh-TW" sz="1400"/>
              <a:t>單子的集合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zh-TW" sz="1400"/>
              <a:t>improvement - 上線後可以再補的需求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GROUP setting </a:t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1235250" y="1670625"/>
            <a:ext cx="1782000" cy="303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project : aa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3017250" y="1670625"/>
            <a:ext cx="1782000" cy="303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project : bb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2247750" y="2333775"/>
            <a:ext cx="1609800" cy="102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group : ALPHA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member : A,B,C</a:t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4799250" y="1670625"/>
            <a:ext cx="1782000" cy="303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project : cc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4885350" y="3513375"/>
            <a:ext cx="1609800" cy="102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group : BETA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member : D,E,F</a:t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7042500" y="2147025"/>
            <a:ext cx="1609800" cy="1022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group : GAMMA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member : G,H,I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Permission</a:t>
            </a:r>
            <a:endParaRPr/>
          </a:p>
        </p:txBody>
      </p:sp>
      <p:sp>
        <p:nvSpPr>
          <p:cNvPr id="199" name="Google Shape;199;p19"/>
          <p:cNvSpPr txBox="1"/>
          <p:nvPr>
            <p:ph idx="1" type="body"/>
          </p:nvPr>
        </p:nvSpPr>
        <p:spPr>
          <a:xfrm>
            <a:off x="1297500" y="1119475"/>
            <a:ext cx="7038900" cy="3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400">
                <a:solidFill>
                  <a:srgbClr val="3C78D8"/>
                </a:solidFill>
              </a:rPr>
              <a:t>Verified</a:t>
            </a:r>
            <a:r>
              <a:rPr lang="zh-TW" sz="1400"/>
              <a:t> - QA/ PM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zh-TW" sz="1400">
                <a:solidFill>
                  <a:srgbClr val="B7B7B7"/>
                </a:solidFill>
              </a:rPr>
              <a:t>Closed</a:t>
            </a:r>
            <a:r>
              <a:rPr lang="zh-TW" sz="1400"/>
              <a:t> - </a:t>
            </a:r>
            <a:r>
              <a:rPr lang="zh-TW" sz="1400"/>
              <a:t>QA/ PM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zh-TW" sz="1400">
                <a:solidFill>
                  <a:srgbClr val="38761D"/>
                </a:solidFill>
              </a:rPr>
              <a:t>Resolved</a:t>
            </a:r>
            <a:r>
              <a:rPr lang="zh-TW" sz="1400"/>
              <a:t> - RD/ all Manager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zh-TW" sz="1400">
                <a:solidFill>
                  <a:srgbClr val="FFD966"/>
                </a:solidFill>
              </a:rPr>
              <a:t>Doing/ </a:t>
            </a:r>
            <a:r>
              <a:rPr b="1" lang="zh-TW" sz="1400">
                <a:solidFill>
                  <a:srgbClr val="4A86E8"/>
                </a:solidFill>
              </a:rPr>
              <a:t>In progress</a:t>
            </a:r>
            <a:r>
              <a:rPr lang="zh-TW" sz="1400">
                <a:solidFill>
                  <a:srgbClr val="C9DAF8"/>
                </a:solidFill>
              </a:rPr>
              <a:t> </a:t>
            </a:r>
            <a:r>
              <a:rPr lang="zh-TW" sz="1400"/>
              <a:t>- RD/ Art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zh-TW" sz="1400"/>
              <a:t>Add a fix version - RD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zh-TW" sz="1400">
                <a:solidFill>
                  <a:srgbClr val="38761D"/>
                </a:solidFill>
              </a:rPr>
              <a:t>Won’t do</a:t>
            </a:r>
            <a:r>
              <a:rPr lang="zh-TW" sz="1400"/>
              <a:t> - PM/ </a:t>
            </a:r>
            <a:r>
              <a:rPr lang="zh-TW" sz="1400"/>
              <a:t>all Manager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zh-TW" sz="1400"/>
              <a:t>Browser project - group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zh-TW" sz="1400"/>
              <a:t>Delete issue/ comment/ attachment - admin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
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5" roundtripDataSignature="AMtx7mggI4XLsX2kVrDTKKkIGJCT9Gkv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首先先進入公司的JIRA網址</a:t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語言設定有兩個區塊，一個是系統語言，已經支持多國語言，另外一個是帳戶設定，也就是這邊的操作所需要變更的，改成中文可以加速大家方便理解這個系統</a:t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工作流代表著所有狀態的流向，不過有些路徑會鎖權限，根據部門的不同會有所改變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Jira查詢擁有很多條件項，方便使用者快速篩選自己要找的單子，同時也支持進階搜索，SQL語法，這等熟悉以後再使用，這個方法支援較多的指令</a:t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每個人關注的問題不同，會因為不同的部門雨專案需求有所差異，目前上面的是系統已經設定好的預設，若有需求可以再自行更改，支持多種表格/圖表，方便知道各專案的狀況，由於目前是預設的，需要新的請create一個新的再自行加入自己想要的模塊</a:t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會用到版本的，主要有兩個地方，一個是影響版本，QA回報問題的時候需要用，方便釐清問題，另外一個則是修正版本，確定推上測試環境後才能改的，再請QA驗證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方便快速找到自己收藏的filter/ dashboard，還有最近瀏覽過的事情，這功能很方便</a:t>
            </a:r>
            <a:endParaRPr/>
          </a:p>
        </p:txBody>
      </p:sp>
      <p:sp>
        <p:nvSpPr>
          <p:cNvPr id="112" name="Google Shape;11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創建問題，以BUG單為例，需要有專案類別/開單屬性(bug)/標題，因為可能會有外國人，所以有中英文，優先級以及標籤，優先級是輕重程度；標籤是方便以後尋找，主要是PM跟QA負責整理</a:t>
            </a:r>
            <a:endParaRPr/>
          </a:p>
        </p:txBody>
      </p:sp>
      <p:sp>
        <p:nvSpPr>
          <p:cNvPr id="120" name="Google Shape;12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7b2a1c2567_5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17b2a1c2567_5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17b2a1c2567_5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7b2a1c2567_5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17b2a1c2567_5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7b2a1c2567_5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17b2a1c2567_5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17b2a1c2567_5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7b2a1c2567_5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17b2a1c2567_5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17b2a1c2567_5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17b2a1c2567_5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7b2a1c2567_5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17b2a1c2567_5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7b2a1c2567_5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17b2a1c2567_5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17b2a1c2567_5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7b2a1c2567_5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17b2a1c2567_5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7b2a1c2567_5_30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17b2a1c2567_5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17b2a1c2567_5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17b2a1c2567_5_3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17b2a1c2567_5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7b2a1c2567_5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17b2a1c2567_5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7b2a1c2567_5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17b2a1c2567_5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17b2a1c2567_5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7b2a1c2567_5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7b2a1c2567_5_45"/>
          <p:cNvSpPr txBox="1"/>
          <p:nvPr>
            <p:ph idx="10" type="dt"/>
          </p:nvPr>
        </p:nvSpPr>
        <p:spPr>
          <a:xfrm>
            <a:off x="6172200" y="6172200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17b2a1c2567_5_45"/>
          <p:cNvSpPr txBox="1"/>
          <p:nvPr>
            <p:ph idx="11" type="ftr"/>
          </p:nvPr>
        </p:nvSpPr>
        <p:spPr>
          <a:xfrm>
            <a:off x="457199" y="617220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17b2a1c2567_5_45"/>
          <p:cNvSpPr txBox="1"/>
          <p:nvPr>
            <p:ph idx="12" type="sldNum"/>
          </p:nvPr>
        </p:nvSpPr>
        <p:spPr>
          <a:xfrm>
            <a:off x="3810000" y="6172200"/>
            <a:ext cx="1828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" name="Google Shape;58;g17b2a1c2567_5_45"/>
          <p:cNvSpPr txBox="1"/>
          <p:nvPr>
            <p:ph type="title"/>
          </p:nvPr>
        </p:nvSpPr>
        <p:spPr>
          <a:xfrm>
            <a:off x="1793289" y="4372168"/>
            <a:ext cx="651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304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g17b2a1c2567_5_45"/>
          <p:cNvSpPr txBox="1"/>
          <p:nvPr>
            <p:ph idx="1" type="body"/>
          </p:nvPr>
        </p:nvSpPr>
        <p:spPr>
          <a:xfrm>
            <a:off x="1143000" y="731520"/>
            <a:ext cx="6400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7190" lvl="0" marL="457200" rtl="0" algn="l">
              <a:spcBef>
                <a:spcPts val="360"/>
              </a:spcBef>
              <a:spcAft>
                <a:spcPts val="0"/>
              </a:spcAft>
              <a:buSzPts val="2340"/>
              <a:buChar char="●"/>
              <a:defRPr/>
            </a:lvl1pPr>
            <a:lvl2pPr indent="-377190" lvl="1" marL="914400" rtl="0" algn="l">
              <a:spcBef>
                <a:spcPts val="360"/>
              </a:spcBef>
              <a:spcAft>
                <a:spcPts val="0"/>
              </a:spcAft>
              <a:buSzPts val="2340"/>
              <a:buChar char="○"/>
              <a:defRPr/>
            </a:lvl2pPr>
            <a:lvl3pPr indent="-377189" lvl="2" marL="1371600" rtl="0" algn="l">
              <a:spcBef>
                <a:spcPts val="360"/>
              </a:spcBef>
              <a:spcAft>
                <a:spcPts val="0"/>
              </a:spcAft>
              <a:buSzPts val="2340"/>
              <a:buChar char="■"/>
              <a:defRPr/>
            </a:lvl3pPr>
            <a:lvl4pPr indent="-377189" lvl="3" marL="1828800" rtl="0" algn="l">
              <a:spcBef>
                <a:spcPts val="360"/>
              </a:spcBef>
              <a:spcAft>
                <a:spcPts val="0"/>
              </a:spcAft>
              <a:buSzPts val="2340"/>
              <a:buChar char="●"/>
              <a:defRPr/>
            </a:lvl4pPr>
            <a:lvl5pPr indent="-377189" lvl="4" marL="2286000" rtl="0" algn="l">
              <a:spcBef>
                <a:spcPts val="360"/>
              </a:spcBef>
              <a:spcAft>
                <a:spcPts val="0"/>
              </a:spcAft>
              <a:buSzPts val="2340"/>
              <a:buChar char="○"/>
              <a:defRPr/>
            </a:lvl5pPr>
            <a:lvl6pPr indent="-377189" lvl="5" marL="2743200" rtl="0" algn="l">
              <a:spcBef>
                <a:spcPts val="360"/>
              </a:spcBef>
              <a:spcAft>
                <a:spcPts val="0"/>
              </a:spcAft>
              <a:buSzPts val="2340"/>
              <a:buChar char="■"/>
              <a:defRPr/>
            </a:lvl6pPr>
            <a:lvl7pPr indent="-377189" lvl="6" marL="3200400" rtl="0" algn="l">
              <a:spcBef>
                <a:spcPts val="360"/>
              </a:spcBef>
              <a:spcAft>
                <a:spcPts val="0"/>
              </a:spcAft>
              <a:buSzPts val="2340"/>
              <a:buChar char="●"/>
              <a:defRPr/>
            </a:lvl7pPr>
            <a:lvl8pPr indent="-377190" lvl="7" marL="3657600" rtl="0" algn="l">
              <a:spcBef>
                <a:spcPts val="360"/>
              </a:spcBef>
              <a:spcAft>
                <a:spcPts val="0"/>
              </a:spcAft>
              <a:buSzPts val="2340"/>
              <a:buChar char="○"/>
              <a:defRPr/>
            </a:lvl8pPr>
            <a:lvl9pPr indent="-377190" lvl="8" marL="4114800" rtl="0" algn="l">
              <a:spcBef>
                <a:spcPts val="360"/>
              </a:spcBef>
              <a:spcAft>
                <a:spcPts val="300"/>
              </a:spcAft>
              <a:buSzPts val="234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7b2a1c2567_5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17b2a1c2567_5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g17b2a1c2567_5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xample.interna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755576" y="1196753"/>
            <a:ext cx="7175351" cy="10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82880" rtl="0" algn="ctr">
              <a:spcBef>
                <a:spcPts val="0"/>
              </a:spcBef>
              <a:spcAft>
                <a:spcPts val="0"/>
              </a:spcAft>
              <a:buSzPts val="6912"/>
              <a:buNone/>
            </a:pPr>
            <a:r>
              <a:rPr lang="zh-TW"/>
              <a:t>Jira 操作介紹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idx="1" type="body"/>
          </p:nvPr>
        </p:nvSpPr>
        <p:spPr>
          <a:xfrm>
            <a:off x="1143000" y="731520"/>
            <a:ext cx="6400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1610" lvl="0" marL="228600" rtl="0" algn="l">
              <a:spcBef>
                <a:spcPts val="0"/>
              </a:spcBef>
              <a:spcAft>
                <a:spcPts val="0"/>
              </a:spcAft>
              <a:buSzPts val="2860"/>
              <a:buChar char="●"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https://example.internal/</a:t>
            </a:r>
            <a:endParaRPr/>
          </a:p>
        </p:txBody>
      </p:sp>
      <p:sp>
        <p:nvSpPr>
          <p:cNvPr id="71" name="Google Shape;71;p2"/>
          <p:cNvSpPr txBox="1"/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LINK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1115616" y="476672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語言切換</a:t>
            </a:r>
            <a:endParaRPr/>
          </a:p>
        </p:txBody>
      </p:sp>
      <p:pic>
        <p:nvPicPr>
          <p:cNvPr id="78" name="Google Shape;7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75" y="1066425"/>
            <a:ext cx="5226675" cy="36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800" y="3292297"/>
            <a:ext cx="3612525" cy="3354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1835696" y="5229200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工作流(workflow)</a:t>
            </a:r>
            <a:endParaRPr/>
          </a:p>
        </p:txBody>
      </p:sp>
      <p:pic>
        <p:nvPicPr>
          <p:cNvPr id="86" name="Google Shape;8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0688"/>
            <a:ext cx="9003898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2411760" y="5373216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過濾器(filter)</a:t>
            </a:r>
            <a:endParaRPr/>
          </a:p>
        </p:txBody>
      </p:sp>
      <p:pic>
        <p:nvPicPr>
          <p:cNvPr id="93" name="Google Shape;9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692696"/>
            <a:ext cx="7776864" cy="432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2441259" y="5373216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儀表盤(Dashboard)</a:t>
            </a:r>
            <a:endParaRPr/>
          </a:p>
        </p:txBody>
      </p:sp>
      <p:pic>
        <p:nvPicPr>
          <p:cNvPr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260648"/>
            <a:ext cx="22193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512" y="836712"/>
            <a:ext cx="6400800" cy="3104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2411760" y="5373216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版本(version)</a:t>
            </a:r>
            <a:endParaRPr/>
          </a:p>
        </p:txBody>
      </p:sp>
      <p:pic>
        <p:nvPicPr>
          <p:cNvPr id="108" name="Google Shape;108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16632"/>
            <a:ext cx="8860457" cy="331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2483768" y="5517232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最近&amp;最愛</a:t>
            </a:r>
            <a:endParaRPr/>
          </a:p>
        </p:txBody>
      </p:sp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44" y="492209"/>
            <a:ext cx="3617877" cy="52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04" y="291362"/>
            <a:ext cx="1944216" cy="5630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2267744" y="5373216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5888"/>
              <a:buNone/>
            </a:pPr>
            <a:r>
              <a:rPr lang="zh-TW"/>
              <a:t>創建問題</a:t>
            </a:r>
            <a:endParaRPr/>
          </a:p>
        </p:txBody>
      </p:sp>
      <p:pic>
        <p:nvPicPr>
          <p:cNvPr id="123" name="Google Shape;12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260648"/>
            <a:ext cx="6840760" cy="489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</cp:coreProperties>
</file>
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6858000" cy="9906000" type="A4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157" y="-15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76EF1-BB78-437E-B829-C66F1406872E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D6692-33F1-47A9-BA21-F05A5AC446E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000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81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112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82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25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15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454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3422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895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03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1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94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3AEEE-BC67-4FA3-84D9-65819FF197E3}" type="datetimeFigureOut">
              <a:rPr lang="zh-TW" altLang="en-US" smtClean="0"/>
              <a:t>2018/8/22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DB0E1-F6F1-44A9-A5B2-B7627BDCAB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347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601282" y="2169496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聊天室游客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注</a:t>
            </a:r>
            <a:r>
              <a:rPr lang="zh-TW" altLang="en-US" sz="675" dirty="0"/>
              <a:t>册开始</a:t>
            </a:r>
          </a:p>
        </p:txBody>
      </p:sp>
      <p:sp>
        <p:nvSpPr>
          <p:cNvPr id="5" name="矩形 4"/>
          <p:cNvSpPr/>
          <p:nvPr/>
        </p:nvSpPr>
        <p:spPr>
          <a:xfrm>
            <a:off x="575881" y="3024316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聊天室注册</a:t>
            </a:r>
          </a:p>
        </p:txBody>
      </p:sp>
      <p:sp>
        <p:nvSpPr>
          <p:cNvPr id="7" name="流程圖: 決策 6"/>
          <p:cNvSpPr/>
          <p:nvPr/>
        </p:nvSpPr>
        <p:spPr>
          <a:xfrm>
            <a:off x="575881" y="3799737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是否符合格式？</a:t>
            </a:r>
          </a:p>
        </p:txBody>
      </p:sp>
      <p:sp>
        <p:nvSpPr>
          <p:cNvPr id="10" name="矩形 9"/>
          <p:cNvSpPr/>
          <p:nvPr/>
        </p:nvSpPr>
        <p:spPr>
          <a:xfrm>
            <a:off x="565721" y="4688048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平</a:t>
            </a:r>
            <a:r>
              <a:rPr lang="zh-TW" altLang="en-US" sz="675" dirty="0" smtClean="0"/>
              <a:t>台端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系统用户名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检查</a:t>
            </a:r>
            <a:endParaRPr lang="zh-TW" altLang="en-US" sz="675" dirty="0"/>
          </a:p>
        </p:txBody>
      </p:sp>
      <p:sp>
        <p:nvSpPr>
          <p:cNvPr id="11" name="流程圖: 決策 10"/>
          <p:cNvSpPr/>
          <p:nvPr/>
        </p:nvSpPr>
        <p:spPr>
          <a:xfrm>
            <a:off x="561717" y="5456721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是否没有重</a:t>
            </a:r>
            <a:r>
              <a:rPr lang="zh-TW" altLang="en-US" sz="675" dirty="0"/>
              <a:t>复？</a:t>
            </a:r>
          </a:p>
        </p:txBody>
      </p:sp>
      <p:cxnSp>
        <p:nvCxnSpPr>
          <p:cNvPr id="15" name="直線單箭頭接點 14"/>
          <p:cNvCxnSpPr>
            <a:stCxn id="4" idx="4"/>
            <a:endCxn id="5" idx="0"/>
          </p:cNvCxnSpPr>
          <p:nvPr/>
        </p:nvCxnSpPr>
        <p:spPr>
          <a:xfrm flipH="1">
            <a:off x="1072921" y="2728357"/>
            <a:ext cx="5619" cy="29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7" idx="2"/>
            <a:endCxn id="10" idx="0"/>
          </p:cNvCxnSpPr>
          <p:nvPr/>
        </p:nvCxnSpPr>
        <p:spPr>
          <a:xfrm flipH="1">
            <a:off x="1062761" y="4368490"/>
            <a:ext cx="10160" cy="31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5" idx="2"/>
            <a:endCxn id="7" idx="0"/>
          </p:cNvCxnSpPr>
          <p:nvPr/>
        </p:nvCxnSpPr>
        <p:spPr>
          <a:xfrm>
            <a:off x="1072921" y="3508992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0" idx="2"/>
            <a:endCxn id="11" idx="0"/>
          </p:cNvCxnSpPr>
          <p:nvPr/>
        </p:nvCxnSpPr>
        <p:spPr>
          <a:xfrm flipH="1">
            <a:off x="1058757" y="5172724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7" idx="3"/>
            <a:endCxn id="4" idx="6"/>
          </p:cNvCxnSpPr>
          <p:nvPr/>
        </p:nvCxnSpPr>
        <p:spPr>
          <a:xfrm flipH="1" flipV="1">
            <a:off x="1555797" y="2448927"/>
            <a:ext cx="14164" cy="1635187"/>
          </a:xfrm>
          <a:prstGeom prst="bentConnector3">
            <a:avLst>
              <a:gd name="adj1" fmla="val -16139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>
            <a:stCxn id="11" idx="3"/>
            <a:endCxn id="4" idx="6"/>
          </p:cNvCxnSpPr>
          <p:nvPr/>
        </p:nvCxnSpPr>
        <p:spPr>
          <a:xfrm flipV="1">
            <a:off x="1555797" y="2448927"/>
            <a:ext cx="12700" cy="3292171"/>
          </a:xfrm>
          <a:prstGeom prst="bentConnector3">
            <a:avLst>
              <a:gd name="adj1" fmla="val 44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581499" y="6312787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注</a:t>
            </a:r>
            <a:r>
              <a:rPr lang="zh-TW" altLang="en-US" sz="675" dirty="0" smtClean="0"/>
              <a:t>册成功</a:t>
            </a:r>
            <a:endParaRPr lang="zh-TW" altLang="en-US" sz="675" dirty="0"/>
          </a:p>
        </p:txBody>
      </p:sp>
      <p:cxnSp>
        <p:nvCxnSpPr>
          <p:cNvPr id="32" name="直線單箭頭接點 31"/>
          <p:cNvCxnSpPr>
            <a:stCxn id="11" idx="2"/>
            <a:endCxn id="30" idx="0"/>
          </p:cNvCxnSpPr>
          <p:nvPr/>
        </p:nvCxnSpPr>
        <p:spPr>
          <a:xfrm>
            <a:off x="1058757" y="6025474"/>
            <a:ext cx="0" cy="28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1614424" y="2747317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959864" y="3501240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906356" y="602566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921168" y="4387378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74" name="橢圓 73"/>
          <p:cNvSpPr/>
          <p:nvPr/>
        </p:nvSpPr>
        <p:spPr>
          <a:xfrm>
            <a:off x="3576130" y="2169496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平台端游客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注</a:t>
            </a:r>
            <a:r>
              <a:rPr lang="zh-TW" altLang="en-US" sz="675" dirty="0"/>
              <a:t>册开始</a:t>
            </a:r>
          </a:p>
        </p:txBody>
      </p:sp>
      <p:sp>
        <p:nvSpPr>
          <p:cNvPr id="75" name="矩形 74"/>
          <p:cNvSpPr/>
          <p:nvPr/>
        </p:nvSpPr>
        <p:spPr>
          <a:xfrm>
            <a:off x="3550729" y="3024316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平台端注册</a:t>
            </a:r>
            <a:endParaRPr lang="zh-TW" altLang="en-US" sz="675" dirty="0"/>
          </a:p>
        </p:txBody>
      </p:sp>
      <p:sp>
        <p:nvSpPr>
          <p:cNvPr id="76" name="流程圖: 決策 75"/>
          <p:cNvSpPr/>
          <p:nvPr/>
        </p:nvSpPr>
        <p:spPr>
          <a:xfrm>
            <a:off x="3550729" y="3799737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是否符合格式？</a:t>
            </a:r>
          </a:p>
        </p:txBody>
      </p:sp>
      <p:sp>
        <p:nvSpPr>
          <p:cNvPr id="77" name="矩形 76"/>
          <p:cNvSpPr/>
          <p:nvPr/>
        </p:nvSpPr>
        <p:spPr>
          <a:xfrm>
            <a:off x="3540569" y="4688048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聊天室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系统用户名</a:t>
            </a:r>
            <a:endParaRPr lang="en-US" altLang="zh-TW" sz="675" dirty="0" smtClean="0"/>
          </a:p>
          <a:p>
            <a:pPr algn="ctr"/>
            <a:r>
              <a:rPr lang="zh-TW" altLang="en-US" sz="675" dirty="0"/>
              <a:t>检</a:t>
            </a:r>
            <a:r>
              <a:rPr lang="zh-TW" altLang="en-US" sz="675" dirty="0" smtClean="0"/>
              <a:t>查</a:t>
            </a:r>
            <a:endParaRPr lang="zh-TW" altLang="en-US" sz="675" dirty="0"/>
          </a:p>
        </p:txBody>
      </p:sp>
      <p:sp>
        <p:nvSpPr>
          <p:cNvPr id="78" name="流程圖: 決策 77"/>
          <p:cNvSpPr/>
          <p:nvPr/>
        </p:nvSpPr>
        <p:spPr>
          <a:xfrm>
            <a:off x="3536565" y="5456721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是否没有重</a:t>
            </a:r>
            <a:r>
              <a:rPr lang="zh-TW" altLang="en-US" sz="675" dirty="0"/>
              <a:t>复？</a:t>
            </a:r>
          </a:p>
        </p:txBody>
      </p:sp>
      <p:cxnSp>
        <p:nvCxnSpPr>
          <p:cNvPr id="79" name="直線單箭頭接點 78"/>
          <p:cNvCxnSpPr>
            <a:stCxn id="74" idx="4"/>
            <a:endCxn id="75" idx="0"/>
          </p:cNvCxnSpPr>
          <p:nvPr/>
        </p:nvCxnSpPr>
        <p:spPr>
          <a:xfrm flipH="1">
            <a:off x="4047769" y="2728357"/>
            <a:ext cx="5619" cy="29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>
            <a:stCxn id="76" idx="2"/>
            <a:endCxn id="77" idx="0"/>
          </p:cNvCxnSpPr>
          <p:nvPr/>
        </p:nvCxnSpPr>
        <p:spPr>
          <a:xfrm flipH="1">
            <a:off x="4037609" y="4368490"/>
            <a:ext cx="10160" cy="31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>
            <a:stCxn id="75" idx="2"/>
            <a:endCxn id="76" idx="0"/>
          </p:cNvCxnSpPr>
          <p:nvPr/>
        </p:nvCxnSpPr>
        <p:spPr>
          <a:xfrm>
            <a:off x="4047769" y="3508992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>
            <a:stCxn id="77" idx="2"/>
            <a:endCxn id="78" idx="0"/>
          </p:cNvCxnSpPr>
          <p:nvPr/>
        </p:nvCxnSpPr>
        <p:spPr>
          <a:xfrm flipH="1">
            <a:off x="4033605" y="5172724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肘形接點 82"/>
          <p:cNvCxnSpPr>
            <a:stCxn id="76" idx="3"/>
            <a:endCxn id="74" idx="6"/>
          </p:cNvCxnSpPr>
          <p:nvPr/>
        </p:nvCxnSpPr>
        <p:spPr>
          <a:xfrm flipH="1" flipV="1">
            <a:off x="4530645" y="2448927"/>
            <a:ext cx="14164" cy="1635187"/>
          </a:xfrm>
          <a:prstGeom prst="bentConnector3">
            <a:avLst>
              <a:gd name="adj1" fmla="val -16139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肘形接點 83"/>
          <p:cNvCxnSpPr>
            <a:stCxn id="78" idx="3"/>
            <a:endCxn id="74" idx="6"/>
          </p:cNvCxnSpPr>
          <p:nvPr/>
        </p:nvCxnSpPr>
        <p:spPr>
          <a:xfrm flipV="1">
            <a:off x="4530645" y="2448927"/>
            <a:ext cx="12700" cy="3292171"/>
          </a:xfrm>
          <a:prstGeom prst="bentConnector3">
            <a:avLst>
              <a:gd name="adj1" fmla="val 44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橢圓 84"/>
          <p:cNvSpPr/>
          <p:nvPr/>
        </p:nvSpPr>
        <p:spPr>
          <a:xfrm>
            <a:off x="3556347" y="6312787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注</a:t>
            </a:r>
            <a:r>
              <a:rPr lang="zh-TW" altLang="en-US" sz="675" dirty="0" smtClean="0"/>
              <a:t>册成功</a:t>
            </a:r>
            <a:endParaRPr lang="zh-TW" altLang="en-US" sz="675" dirty="0"/>
          </a:p>
        </p:txBody>
      </p:sp>
      <p:cxnSp>
        <p:nvCxnSpPr>
          <p:cNvPr id="86" name="直線單箭頭接點 85"/>
          <p:cNvCxnSpPr>
            <a:stCxn id="78" idx="2"/>
            <a:endCxn id="85" idx="0"/>
          </p:cNvCxnSpPr>
          <p:nvPr/>
        </p:nvCxnSpPr>
        <p:spPr>
          <a:xfrm>
            <a:off x="4033605" y="6025474"/>
            <a:ext cx="0" cy="28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4589272" y="2747317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88" name="文字方塊 87"/>
          <p:cNvSpPr txBox="1"/>
          <p:nvPr/>
        </p:nvSpPr>
        <p:spPr>
          <a:xfrm>
            <a:off x="4934712" y="3501240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89" name="文字方塊 88"/>
          <p:cNvSpPr txBox="1"/>
          <p:nvPr/>
        </p:nvSpPr>
        <p:spPr>
          <a:xfrm>
            <a:off x="3881204" y="602566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3896016" y="4387378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2109216" y="493776"/>
            <a:ext cx="3364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注册</a:t>
            </a:r>
            <a:endParaRPr lang="zh-TW" altLang="en-US" sz="28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668790" y="1314247"/>
            <a:ext cx="806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聊天室</a:t>
            </a:r>
            <a:endParaRPr lang="zh-TW" altLang="en-US" sz="16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3647357" y="1301572"/>
            <a:ext cx="806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平台端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6330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749110" y="1866220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聊天室用户</a:t>
            </a:r>
            <a:endParaRPr lang="en-US" altLang="zh-TW" sz="675" dirty="0" smtClean="0"/>
          </a:p>
          <a:p>
            <a:pPr algn="ctr"/>
            <a:r>
              <a:rPr lang="zh-TW" altLang="en-US" sz="675" dirty="0"/>
              <a:t>登入开</a:t>
            </a:r>
            <a:r>
              <a:rPr lang="zh-TW" altLang="en-US" sz="675" dirty="0" smtClean="0"/>
              <a:t>始</a:t>
            </a:r>
            <a:endParaRPr lang="zh-TW" altLang="en-US" sz="675" dirty="0"/>
          </a:p>
        </p:txBody>
      </p:sp>
      <p:sp>
        <p:nvSpPr>
          <p:cNvPr id="5" name="矩形 4"/>
          <p:cNvSpPr/>
          <p:nvPr/>
        </p:nvSpPr>
        <p:spPr>
          <a:xfrm>
            <a:off x="723709" y="2721040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聊天室登入</a:t>
            </a:r>
            <a:endParaRPr lang="zh-TW" altLang="en-US" sz="675" dirty="0"/>
          </a:p>
        </p:txBody>
      </p:sp>
      <p:sp>
        <p:nvSpPr>
          <p:cNvPr id="7" name="流程圖: 決策 6"/>
          <p:cNvSpPr/>
          <p:nvPr/>
        </p:nvSpPr>
        <p:spPr>
          <a:xfrm>
            <a:off x="723709" y="3496461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帐密是否正确？</a:t>
            </a:r>
            <a:endParaRPr lang="zh-TW" altLang="en-US" sz="675" dirty="0"/>
          </a:p>
        </p:txBody>
      </p:sp>
      <p:sp>
        <p:nvSpPr>
          <p:cNvPr id="10" name="矩形 9"/>
          <p:cNvSpPr/>
          <p:nvPr/>
        </p:nvSpPr>
        <p:spPr>
          <a:xfrm>
            <a:off x="713549" y="4384772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/>
              <a:t>平</a:t>
            </a:r>
            <a:r>
              <a:rPr lang="zh-TW" altLang="en-US" sz="675" dirty="0" smtClean="0"/>
              <a:t>台端登入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资讯检查</a:t>
            </a:r>
            <a:endParaRPr lang="zh-TW" altLang="en-US" sz="675" dirty="0"/>
          </a:p>
        </p:txBody>
      </p:sp>
      <p:sp>
        <p:nvSpPr>
          <p:cNvPr id="11" name="流程圖: 決策 10"/>
          <p:cNvSpPr/>
          <p:nvPr/>
        </p:nvSpPr>
        <p:spPr>
          <a:xfrm>
            <a:off x="709545" y="5153445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是否取得</a:t>
            </a:r>
            <a:endParaRPr lang="en-US" altLang="zh-TW" sz="675" dirty="0" smtClean="0"/>
          </a:p>
          <a:p>
            <a:pPr algn="ctr"/>
            <a:r>
              <a:rPr lang="en-US" altLang="zh-TW" sz="675" dirty="0" smtClean="0"/>
              <a:t>Token?</a:t>
            </a:r>
            <a:endParaRPr lang="zh-TW" altLang="en-US" sz="675" dirty="0"/>
          </a:p>
        </p:txBody>
      </p:sp>
      <p:cxnSp>
        <p:nvCxnSpPr>
          <p:cNvPr id="15" name="直線單箭頭接點 14"/>
          <p:cNvCxnSpPr>
            <a:stCxn id="4" idx="4"/>
            <a:endCxn id="5" idx="0"/>
          </p:cNvCxnSpPr>
          <p:nvPr/>
        </p:nvCxnSpPr>
        <p:spPr>
          <a:xfrm flipH="1">
            <a:off x="1220749" y="2425081"/>
            <a:ext cx="5619" cy="29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7" idx="2"/>
            <a:endCxn id="10" idx="0"/>
          </p:cNvCxnSpPr>
          <p:nvPr/>
        </p:nvCxnSpPr>
        <p:spPr>
          <a:xfrm flipH="1">
            <a:off x="1210589" y="4065214"/>
            <a:ext cx="10160" cy="31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5" idx="2"/>
            <a:endCxn id="7" idx="0"/>
          </p:cNvCxnSpPr>
          <p:nvPr/>
        </p:nvCxnSpPr>
        <p:spPr>
          <a:xfrm>
            <a:off x="1220749" y="3205716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0" idx="2"/>
            <a:endCxn id="11" idx="0"/>
          </p:cNvCxnSpPr>
          <p:nvPr/>
        </p:nvCxnSpPr>
        <p:spPr>
          <a:xfrm flipH="1">
            <a:off x="1206585" y="4869448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7" idx="3"/>
            <a:endCxn id="4" idx="6"/>
          </p:cNvCxnSpPr>
          <p:nvPr/>
        </p:nvCxnSpPr>
        <p:spPr>
          <a:xfrm flipH="1" flipV="1">
            <a:off x="1703625" y="2145651"/>
            <a:ext cx="14164" cy="1635187"/>
          </a:xfrm>
          <a:prstGeom prst="bentConnector3">
            <a:avLst>
              <a:gd name="adj1" fmla="val -16139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接點 27"/>
          <p:cNvCxnSpPr>
            <a:stCxn id="11" idx="3"/>
            <a:endCxn id="4" idx="6"/>
          </p:cNvCxnSpPr>
          <p:nvPr/>
        </p:nvCxnSpPr>
        <p:spPr>
          <a:xfrm flipV="1">
            <a:off x="1703625" y="2145651"/>
            <a:ext cx="12700" cy="3292171"/>
          </a:xfrm>
          <a:prstGeom prst="bentConnector3">
            <a:avLst>
              <a:gd name="adj1" fmla="val 444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729327" y="6009511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登入成功</a:t>
            </a:r>
            <a:endParaRPr lang="zh-TW" altLang="en-US" sz="675" dirty="0"/>
          </a:p>
        </p:txBody>
      </p:sp>
      <p:cxnSp>
        <p:nvCxnSpPr>
          <p:cNvPr id="32" name="直線單箭頭接點 31"/>
          <p:cNvCxnSpPr>
            <a:stCxn id="11" idx="2"/>
            <a:endCxn id="30" idx="0"/>
          </p:cNvCxnSpPr>
          <p:nvPr/>
        </p:nvCxnSpPr>
        <p:spPr>
          <a:xfrm>
            <a:off x="1206585" y="5722198"/>
            <a:ext cx="0" cy="28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1762252" y="2444041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107692" y="3197964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54184" y="5722387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068996" y="4084102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2109216" y="493776"/>
            <a:ext cx="3364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登入</a:t>
            </a:r>
            <a:endParaRPr lang="zh-TW" altLang="en-US" sz="28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2342211" y="2932472"/>
            <a:ext cx="400110" cy="11279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400" dirty="0" smtClean="0"/>
              <a:t>报错提示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764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736918" y="133586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发红包开始</a:t>
            </a:r>
            <a:endParaRPr lang="zh-TW" altLang="en-US" sz="675" dirty="0"/>
          </a:p>
        </p:txBody>
      </p:sp>
      <p:sp>
        <p:nvSpPr>
          <p:cNvPr id="7" name="流程圖: 決策 6"/>
          <p:cNvSpPr/>
          <p:nvPr/>
        </p:nvSpPr>
        <p:spPr>
          <a:xfrm>
            <a:off x="717219" y="2166050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金额是否符合规范？</a:t>
            </a:r>
            <a:endParaRPr lang="zh-TW" altLang="en-US" sz="675" dirty="0"/>
          </a:p>
        </p:txBody>
      </p:sp>
      <p:sp>
        <p:nvSpPr>
          <p:cNvPr id="10" name="矩形 9"/>
          <p:cNvSpPr/>
          <p:nvPr/>
        </p:nvSpPr>
        <p:spPr>
          <a:xfrm>
            <a:off x="711517" y="2967857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发红包请求送出</a:t>
            </a:r>
            <a:endParaRPr lang="zh-TW" altLang="en-US" sz="675" dirty="0"/>
          </a:p>
        </p:txBody>
      </p:sp>
      <p:sp>
        <p:nvSpPr>
          <p:cNvPr id="11" name="流程圖: 決策 10"/>
          <p:cNvSpPr/>
          <p:nvPr/>
        </p:nvSpPr>
        <p:spPr>
          <a:xfrm>
            <a:off x="707513" y="3736530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是否为前台</a:t>
            </a:r>
            <a:r>
              <a:rPr lang="en-US" altLang="zh-TW" sz="675" dirty="0" smtClean="0"/>
              <a:t>GM</a:t>
            </a:r>
            <a:r>
              <a:rPr lang="zh-TW" altLang="en-US" sz="675" dirty="0" smtClean="0"/>
              <a:t>或后台有权限的管理员</a:t>
            </a:r>
            <a:endParaRPr lang="zh-TW" altLang="en-US" sz="675" dirty="0"/>
          </a:p>
        </p:txBody>
      </p:sp>
      <p:cxnSp>
        <p:nvCxnSpPr>
          <p:cNvPr id="22" name="直線單箭頭接點 21"/>
          <p:cNvCxnSpPr>
            <a:stCxn id="5" idx="2"/>
            <a:endCxn id="7" idx="0"/>
          </p:cNvCxnSpPr>
          <p:nvPr/>
        </p:nvCxnSpPr>
        <p:spPr>
          <a:xfrm>
            <a:off x="1208557" y="2675364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0" idx="2"/>
            <a:endCxn id="11" idx="0"/>
          </p:cNvCxnSpPr>
          <p:nvPr/>
        </p:nvCxnSpPr>
        <p:spPr>
          <a:xfrm flipH="1">
            <a:off x="1204553" y="3452533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橢圓 29"/>
          <p:cNvSpPr/>
          <p:nvPr/>
        </p:nvSpPr>
        <p:spPr>
          <a:xfrm>
            <a:off x="2025582" y="460248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結束</a:t>
            </a:r>
            <a:endParaRPr lang="zh-TW" altLang="en-US" sz="675" dirty="0"/>
          </a:p>
        </p:txBody>
      </p:sp>
      <p:cxnSp>
        <p:nvCxnSpPr>
          <p:cNvPr id="32" name="直線單箭頭接點 31"/>
          <p:cNvCxnSpPr>
            <a:stCxn id="11" idx="2"/>
            <a:endCxn id="30" idx="0"/>
          </p:cNvCxnSpPr>
          <p:nvPr/>
        </p:nvCxnSpPr>
        <p:spPr>
          <a:xfrm>
            <a:off x="1204553" y="4305283"/>
            <a:ext cx="0" cy="28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2028990" y="171919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2033388" y="3897795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1052152" y="4305472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1194392" y="271576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621792" y="343763"/>
            <a:ext cx="1403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發紅包</a:t>
            </a:r>
            <a:endParaRPr lang="zh-TW" altLang="en-US" sz="2800" dirty="0"/>
          </a:p>
        </p:txBody>
      </p:sp>
      <p:sp>
        <p:nvSpPr>
          <p:cNvPr id="37" name="橢圓 36"/>
          <p:cNvSpPr/>
          <p:nvPr/>
        </p:nvSpPr>
        <p:spPr>
          <a:xfrm>
            <a:off x="4082098" y="133586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領紅包開始</a:t>
            </a:r>
            <a:endParaRPr lang="zh-TW" altLang="en-US" sz="675" dirty="0"/>
          </a:p>
        </p:txBody>
      </p:sp>
      <p:sp>
        <p:nvSpPr>
          <p:cNvPr id="38" name="矩形 37"/>
          <p:cNvSpPr/>
          <p:nvPr/>
        </p:nvSpPr>
        <p:spPr>
          <a:xfrm>
            <a:off x="4056697" y="2190688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用户点击领红包相关按钮</a:t>
            </a:r>
            <a:endParaRPr lang="zh-TW" altLang="en-US" sz="675" dirty="0"/>
          </a:p>
        </p:txBody>
      </p:sp>
      <p:sp>
        <p:nvSpPr>
          <p:cNvPr id="39" name="流程圖: 決策 38"/>
          <p:cNvSpPr/>
          <p:nvPr/>
        </p:nvSpPr>
        <p:spPr>
          <a:xfrm>
            <a:off x="4056697" y="2966109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是否还有红包包数？</a:t>
            </a:r>
            <a:endParaRPr lang="zh-TW" altLang="en-US" sz="675" dirty="0"/>
          </a:p>
        </p:txBody>
      </p:sp>
      <p:sp>
        <p:nvSpPr>
          <p:cNvPr id="41" name="流程圖: 決策 40"/>
          <p:cNvSpPr/>
          <p:nvPr/>
        </p:nvSpPr>
        <p:spPr>
          <a:xfrm>
            <a:off x="4042533" y="4623093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是否添加聊天币</a:t>
            </a:r>
            <a:endParaRPr lang="zh-TW" altLang="en-US" sz="675" dirty="0"/>
          </a:p>
        </p:txBody>
      </p:sp>
      <p:cxnSp>
        <p:nvCxnSpPr>
          <p:cNvPr id="42" name="直線單箭頭接點 41"/>
          <p:cNvCxnSpPr>
            <a:stCxn id="37" idx="4"/>
            <a:endCxn id="38" idx="0"/>
          </p:cNvCxnSpPr>
          <p:nvPr/>
        </p:nvCxnSpPr>
        <p:spPr>
          <a:xfrm flipH="1">
            <a:off x="4553737" y="1894729"/>
            <a:ext cx="5619" cy="29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39" idx="2"/>
            <a:endCxn id="40" idx="0"/>
          </p:cNvCxnSpPr>
          <p:nvPr/>
        </p:nvCxnSpPr>
        <p:spPr>
          <a:xfrm flipH="1">
            <a:off x="4543577" y="3534862"/>
            <a:ext cx="10160" cy="31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38" idx="2"/>
            <a:endCxn id="39" idx="0"/>
          </p:cNvCxnSpPr>
          <p:nvPr/>
        </p:nvCxnSpPr>
        <p:spPr>
          <a:xfrm>
            <a:off x="4553737" y="2675364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stCxn id="40" idx="2"/>
            <a:endCxn id="41" idx="0"/>
          </p:cNvCxnSpPr>
          <p:nvPr/>
        </p:nvCxnSpPr>
        <p:spPr>
          <a:xfrm flipH="1">
            <a:off x="4539573" y="4339096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接點 45"/>
          <p:cNvCxnSpPr>
            <a:stCxn id="39" idx="3"/>
            <a:endCxn id="37" idx="6"/>
          </p:cNvCxnSpPr>
          <p:nvPr/>
        </p:nvCxnSpPr>
        <p:spPr>
          <a:xfrm flipH="1" flipV="1">
            <a:off x="5036613" y="1615299"/>
            <a:ext cx="14164" cy="1635187"/>
          </a:xfrm>
          <a:prstGeom prst="bentConnector3">
            <a:avLst>
              <a:gd name="adj1" fmla="val -16139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橢圓 47"/>
          <p:cNvSpPr/>
          <p:nvPr/>
        </p:nvSpPr>
        <p:spPr>
          <a:xfrm>
            <a:off x="4062315" y="5479159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领红包成功</a:t>
            </a:r>
            <a:endParaRPr lang="zh-TW" altLang="en-US" sz="675" dirty="0"/>
          </a:p>
        </p:txBody>
      </p:sp>
      <p:cxnSp>
        <p:nvCxnSpPr>
          <p:cNvPr id="49" name="直線單箭頭接點 48"/>
          <p:cNvCxnSpPr>
            <a:stCxn id="41" idx="2"/>
            <a:endCxn id="48" idx="0"/>
          </p:cNvCxnSpPr>
          <p:nvPr/>
        </p:nvCxnSpPr>
        <p:spPr>
          <a:xfrm>
            <a:off x="4539573" y="5191846"/>
            <a:ext cx="0" cy="28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5095240" y="1913689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100298" y="435798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4387172" y="5192035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4316640" y="3553750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cxnSp>
        <p:nvCxnSpPr>
          <p:cNvPr id="3" name="直線單箭頭接點 2"/>
          <p:cNvCxnSpPr>
            <a:stCxn id="4" idx="4"/>
            <a:endCxn id="7" idx="0"/>
          </p:cNvCxnSpPr>
          <p:nvPr/>
        </p:nvCxnSpPr>
        <p:spPr>
          <a:xfrm>
            <a:off x="1214176" y="1894729"/>
            <a:ext cx="83" cy="271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731897" y="460248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发红包成功</a:t>
            </a:r>
            <a:endParaRPr lang="zh-TW" altLang="en-US" sz="675" dirty="0"/>
          </a:p>
        </p:txBody>
      </p:sp>
      <p:cxnSp>
        <p:nvCxnSpPr>
          <p:cNvPr id="14" name="肘形接點 13"/>
          <p:cNvCxnSpPr>
            <a:stCxn id="7" idx="3"/>
            <a:endCxn id="4" idx="6"/>
          </p:cNvCxnSpPr>
          <p:nvPr/>
        </p:nvCxnSpPr>
        <p:spPr>
          <a:xfrm flipH="1" flipV="1">
            <a:off x="1691433" y="1615299"/>
            <a:ext cx="19866" cy="835128"/>
          </a:xfrm>
          <a:prstGeom prst="bentConnector3">
            <a:avLst>
              <a:gd name="adj1" fmla="val -23781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1" idx="3"/>
            <a:endCxn id="30" idx="0"/>
          </p:cNvCxnSpPr>
          <p:nvPr/>
        </p:nvCxnSpPr>
        <p:spPr>
          <a:xfrm>
            <a:off x="1701593" y="4020907"/>
            <a:ext cx="801247" cy="5815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221682" y="3553750"/>
            <a:ext cx="400110" cy="11279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400" dirty="0" smtClean="0"/>
              <a:t>后端检查</a:t>
            </a:r>
            <a:endParaRPr lang="zh-TW" altLang="en-US" sz="1400" dirty="0"/>
          </a:p>
        </p:txBody>
      </p:sp>
      <p:cxnSp>
        <p:nvCxnSpPr>
          <p:cNvPr id="23" name="肘形接點 22"/>
          <p:cNvCxnSpPr>
            <a:stCxn id="41" idx="3"/>
          </p:cNvCxnSpPr>
          <p:nvPr/>
        </p:nvCxnSpPr>
        <p:spPr>
          <a:xfrm flipV="1">
            <a:off x="5036613" y="4096758"/>
            <a:ext cx="4004" cy="810712"/>
          </a:xfrm>
          <a:prstGeom prst="bentConnector3">
            <a:avLst>
              <a:gd name="adj1" fmla="val 59615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圖: 決策 56"/>
          <p:cNvSpPr/>
          <p:nvPr/>
        </p:nvSpPr>
        <p:spPr>
          <a:xfrm>
            <a:off x="4049615" y="3848789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是否领取成功？</a:t>
            </a:r>
            <a:endParaRPr lang="zh-TW" altLang="en-US" sz="675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4327963" y="4387692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cxnSp>
        <p:nvCxnSpPr>
          <p:cNvPr id="29" name="肘形接點 28"/>
          <p:cNvCxnSpPr>
            <a:stCxn id="57" idx="1"/>
            <a:endCxn id="37" idx="2"/>
          </p:cNvCxnSpPr>
          <p:nvPr/>
        </p:nvCxnSpPr>
        <p:spPr>
          <a:xfrm rot="10800000" flipH="1">
            <a:off x="4049614" y="1615300"/>
            <a:ext cx="32483" cy="2517867"/>
          </a:xfrm>
          <a:prstGeom prst="bentConnector3">
            <a:avLst>
              <a:gd name="adj1" fmla="val -7037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3783871" y="2784895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3335755" y="2464060"/>
            <a:ext cx="400110" cy="11279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400" dirty="0" smtClean="0"/>
              <a:t>报错提示</a:t>
            </a:r>
            <a:endParaRPr lang="zh-TW" altLang="en-US" sz="14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930868" y="343763"/>
            <a:ext cx="1403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领红包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3794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503238" y="133586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充值开始</a:t>
            </a:r>
            <a:endParaRPr lang="zh-TW" altLang="en-US" sz="675" dirty="0"/>
          </a:p>
        </p:txBody>
      </p:sp>
      <p:sp>
        <p:nvSpPr>
          <p:cNvPr id="7" name="流程圖: 決策 6"/>
          <p:cNvSpPr/>
          <p:nvPr/>
        </p:nvSpPr>
        <p:spPr>
          <a:xfrm>
            <a:off x="483539" y="2166050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充值是否成功</a:t>
            </a:r>
            <a:endParaRPr lang="zh-TW" altLang="en-US" sz="675" dirty="0"/>
          </a:p>
        </p:txBody>
      </p:sp>
      <p:sp>
        <p:nvSpPr>
          <p:cNvPr id="11" name="流程圖: 決策 10"/>
          <p:cNvSpPr/>
          <p:nvPr/>
        </p:nvSpPr>
        <p:spPr>
          <a:xfrm>
            <a:off x="473832" y="2966109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彩票端馀额是否增加</a:t>
            </a:r>
            <a:endParaRPr lang="zh-TW" altLang="en-US" sz="675" dirty="0"/>
          </a:p>
        </p:txBody>
      </p:sp>
      <p:cxnSp>
        <p:nvCxnSpPr>
          <p:cNvPr id="22" name="直線單箭頭接點 21"/>
          <p:cNvCxnSpPr>
            <a:endCxn id="7" idx="0"/>
          </p:cNvCxnSpPr>
          <p:nvPr/>
        </p:nvCxnSpPr>
        <p:spPr>
          <a:xfrm>
            <a:off x="974877" y="2675364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endCxn id="11" idx="0"/>
          </p:cNvCxnSpPr>
          <p:nvPr/>
        </p:nvCxnSpPr>
        <p:spPr>
          <a:xfrm flipH="1">
            <a:off x="970873" y="3452533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11" idx="2"/>
          </p:cNvCxnSpPr>
          <p:nvPr/>
        </p:nvCxnSpPr>
        <p:spPr>
          <a:xfrm>
            <a:off x="970873" y="4305283"/>
            <a:ext cx="0" cy="287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1795310" y="171919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686835" y="271576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35" name="文字方塊 34"/>
          <p:cNvSpPr txBox="1"/>
          <p:nvPr/>
        </p:nvSpPr>
        <p:spPr>
          <a:xfrm>
            <a:off x="978501" y="3477650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960712" y="271576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388112" y="343763"/>
            <a:ext cx="1403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充值（原流程）</a:t>
            </a:r>
            <a:endParaRPr lang="zh-TW" altLang="en-US" sz="1600" dirty="0"/>
          </a:p>
        </p:txBody>
      </p:sp>
      <p:sp>
        <p:nvSpPr>
          <p:cNvPr id="37" name="橢圓 36"/>
          <p:cNvSpPr/>
          <p:nvPr/>
        </p:nvSpPr>
        <p:spPr>
          <a:xfrm>
            <a:off x="3655378" y="133586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投注开始</a:t>
            </a:r>
            <a:endParaRPr lang="zh-TW" altLang="en-US" sz="675" dirty="0"/>
          </a:p>
        </p:txBody>
      </p:sp>
      <p:sp>
        <p:nvSpPr>
          <p:cNvPr id="38" name="矩形 37"/>
          <p:cNvSpPr/>
          <p:nvPr/>
        </p:nvSpPr>
        <p:spPr>
          <a:xfrm>
            <a:off x="3629977" y="2190688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计画员投注</a:t>
            </a:r>
            <a:endParaRPr lang="en-US" altLang="zh-TW" sz="675" dirty="0" smtClean="0"/>
          </a:p>
          <a:p>
            <a:pPr algn="ctr"/>
            <a:endParaRPr lang="en-US" altLang="zh-TW" sz="675" dirty="0"/>
          </a:p>
          <a:p>
            <a:pPr algn="ctr"/>
            <a:r>
              <a:rPr lang="zh-TW" altLang="en-US" sz="675" dirty="0" smtClean="0"/>
              <a:t>一般投注</a:t>
            </a:r>
            <a:endParaRPr lang="zh-TW" altLang="en-US" sz="675" dirty="0"/>
          </a:p>
        </p:txBody>
      </p:sp>
      <p:sp>
        <p:nvSpPr>
          <p:cNvPr id="39" name="流程圖: 決策 38"/>
          <p:cNvSpPr/>
          <p:nvPr/>
        </p:nvSpPr>
        <p:spPr>
          <a:xfrm>
            <a:off x="3629977" y="2966109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是否拥有聊天币？</a:t>
            </a:r>
            <a:endParaRPr lang="zh-TW" altLang="en-US" sz="675" dirty="0"/>
          </a:p>
        </p:txBody>
      </p:sp>
      <p:sp>
        <p:nvSpPr>
          <p:cNvPr id="41" name="流程圖: 決策 40"/>
          <p:cNvSpPr/>
          <p:nvPr/>
        </p:nvSpPr>
        <p:spPr>
          <a:xfrm>
            <a:off x="3615813" y="4623093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彩票端餘額是否增加</a:t>
            </a:r>
            <a:r>
              <a:rPr lang="en-US" altLang="zh-TW" sz="675" dirty="0" smtClean="0"/>
              <a:t>?</a:t>
            </a:r>
            <a:endParaRPr lang="zh-TW" altLang="en-US" sz="675" dirty="0"/>
          </a:p>
        </p:txBody>
      </p:sp>
      <p:cxnSp>
        <p:nvCxnSpPr>
          <p:cNvPr id="42" name="直線單箭頭接點 41"/>
          <p:cNvCxnSpPr>
            <a:stCxn id="37" idx="4"/>
            <a:endCxn id="38" idx="0"/>
          </p:cNvCxnSpPr>
          <p:nvPr/>
        </p:nvCxnSpPr>
        <p:spPr>
          <a:xfrm flipH="1">
            <a:off x="4127017" y="1894729"/>
            <a:ext cx="5619" cy="295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39" idx="2"/>
          </p:cNvCxnSpPr>
          <p:nvPr/>
        </p:nvCxnSpPr>
        <p:spPr>
          <a:xfrm flipH="1">
            <a:off x="4116857" y="3534862"/>
            <a:ext cx="10160" cy="319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38" idx="2"/>
            <a:endCxn id="39" idx="0"/>
          </p:cNvCxnSpPr>
          <p:nvPr/>
        </p:nvCxnSpPr>
        <p:spPr>
          <a:xfrm>
            <a:off x="4127017" y="2675364"/>
            <a:ext cx="0" cy="290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/>
          <p:cNvCxnSpPr>
            <a:endCxn id="41" idx="0"/>
          </p:cNvCxnSpPr>
          <p:nvPr/>
        </p:nvCxnSpPr>
        <p:spPr>
          <a:xfrm flipH="1">
            <a:off x="4112853" y="4339096"/>
            <a:ext cx="4004" cy="28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41" idx="2"/>
            <a:endCxn id="81" idx="0"/>
          </p:cNvCxnSpPr>
          <p:nvPr/>
        </p:nvCxnSpPr>
        <p:spPr>
          <a:xfrm flipH="1">
            <a:off x="4112852" y="5191846"/>
            <a:ext cx="1" cy="101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099403" y="4379003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3889920" y="5553411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3889920" y="3553750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cxnSp>
        <p:nvCxnSpPr>
          <p:cNvPr id="3" name="直線單箭頭接點 2"/>
          <p:cNvCxnSpPr>
            <a:stCxn id="4" idx="4"/>
            <a:endCxn id="7" idx="0"/>
          </p:cNvCxnSpPr>
          <p:nvPr/>
        </p:nvCxnSpPr>
        <p:spPr>
          <a:xfrm>
            <a:off x="980496" y="1894729"/>
            <a:ext cx="83" cy="271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橢圓 53"/>
          <p:cNvSpPr/>
          <p:nvPr/>
        </p:nvSpPr>
        <p:spPr>
          <a:xfrm>
            <a:off x="498217" y="460248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充值成功</a:t>
            </a:r>
            <a:endParaRPr lang="zh-TW" altLang="en-US" sz="675" dirty="0"/>
          </a:p>
        </p:txBody>
      </p:sp>
      <p:cxnSp>
        <p:nvCxnSpPr>
          <p:cNvPr id="14" name="肘形接點 13"/>
          <p:cNvCxnSpPr>
            <a:stCxn id="7" idx="3"/>
            <a:endCxn id="4" idx="6"/>
          </p:cNvCxnSpPr>
          <p:nvPr/>
        </p:nvCxnSpPr>
        <p:spPr>
          <a:xfrm flipH="1" flipV="1">
            <a:off x="1457753" y="1615299"/>
            <a:ext cx="19866" cy="835128"/>
          </a:xfrm>
          <a:prstGeom prst="bentConnector3">
            <a:avLst>
              <a:gd name="adj1" fmla="val -23781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1" idx="3"/>
            <a:endCxn id="7" idx="3"/>
          </p:cNvCxnSpPr>
          <p:nvPr/>
        </p:nvCxnSpPr>
        <p:spPr>
          <a:xfrm flipV="1">
            <a:off x="1467912" y="2450427"/>
            <a:ext cx="9707" cy="800059"/>
          </a:xfrm>
          <a:prstGeom prst="bentConnector3">
            <a:avLst>
              <a:gd name="adj1" fmla="val 32086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-76087" y="3321326"/>
            <a:ext cx="400110" cy="9572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400" dirty="0" smtClean="0"/>
              <a:t>系统重试</a:t>
            </a:r>
            <a:endParaRPr lang="zh-TW" altLang="en-US" sz="14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2061882" y="1541124"/>
            <a:ext cx="400110" cy="11279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400" dirty="0" smtClean="0"/>
              <a:t>报错提示</a:t>
            </a:r>
            <a:endParaRPr lang="zh-TW" altLang="en-US" sz="1400" dirty="0"/>
          </a:p>
        </p:txBody>
      </p:sp>
      <p:sp>
        <p:nvSpPr>
          <p:cNvPr id="63" name="文字方塊 62"/>
          <p:cNvSpPr txBox="1"/>
          <p:nvPr/>
        </p:nvSpPr>
        <p:spPr>
          <a:xfrm>
            <a:off x="3786441" y="343763"/>
            <a:ext cx="14037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/>
              <a:t>投注</a:t>
            </a:r>
            <a:endParaRPr lang="zh-TW" altLang="en-US" sz="1600" dirty="0"/>
          </a:p>
        </p:txBody>
      </p:sp>
      <p:sp>
        <p:nvSpPr>
          <p:cNvPr id="67" name="流程圖: 決策 66"/>
          <p:cNvSpPr/>
          <p:nvPr/>
        </p:nvSpPr>
        <p:spPr>
          <a:xfrm>
            <a:off x="480897" y="3742514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平台端是否同步？</a:t>
            </a:r>
            <a:endParaRPr lang="zh-TW" altLang="en-US" sz="675" dirty="0"/>
          </a:p>
        </p:txBody>
      </p:sp>
      <p:cxnSp>
        <p:nvCxnSpPr>
          <p:cNvPr id="69" name="肘形接點 68"/>
          <p:cNvCxnSpPr>
            <a:stCxn id="67" idx="3"/>
            <a:endCxn id="11" idx="3"/>
          </p:cNvCxnSpPr>
          <p:nvPr/>
        </p:nvCxnSpPr>
        <p:spPr>
          <a:xfrm flipH="1" flipV="1">
            <a:off x="1467912" y="3250486"/>
            <a:ext cx="7065" cy="776405"/>
          </a:xfrm>
          <a:prstGeom prst="bentConnector3">
            <a:avLst>
              <a:gd name="adj1" fmla="val -32356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1588319" y="3515577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75" name="文字方塊 74"/>
          <p:cNvSpPr txBox="1"/>
          <p:nvPr/>
        </p:nvSpPr>
        <p:spPr>
          <a:xfrm>
            <a:off x="960712" y="4325828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-93923" y="2441164"/>
            <a:ext cx="400110" cy="9572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1400" dirty="0" smtClean="0"/>
              <a:t>系统重试</a:t>
            </a:r>
            <a:endParaRPr lang="zh-TW" altLang="en-US" sz="1400" dirty="0"/>
          </a:p>
        </p:txBody>
      </p:sp>
      <p:sp>
        <p:nvSpPr>
          <p:cNvPr id="77" name="矩形 76"/>
          <p:cNvSpPr/>
          <p:nvPr/>
        </p:nvSpPr>
        <p:spPr>
          <a:xfrm>
            <a:off x="3616417" y="3861277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聊天币转入彩票端</a:t>
            </a:r>
            <a:endParaRPr lang="zh-TW" altLang="en-US" sz="675" dirty="0"/>
          </a:p>
        </p:txBody>
      </p:sp>
      <p:sp>
        <p:nvSpPr>
          <p:cNvPr id="81" name="矩形 80"/>
          <p:cNvSpPr/>
          <p:nvPr/>
        </p:nvSpPr>
        <p:spPr>
          <a:xfrm>
            <a:off x="3615812" y="6205463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聊天室投注扣款</a:t>
            </a:r>
            <a:endParaRPr lang="zh-TW" altLang="en-US" sz="675" dirty="0"/>
          </a:p>
        </p:txBody>
      </p:sp>
      <p:cxnSp>
        <p:nvCxnSpPr>
          <p:cNvPr id="83" name="肘形接點 82"/>
          <p:cNvCxnSpPr>
            <a:stCxn id="41" idx="1"/>
            <a:endCxn id="77" idx="1"/>
          </p:cNvCxnSpPr>
          <p:nvPr/>
        </p:nvCxnSpPr>
        <p:spPr>
          <a:xfrm rot="10800000" flipH="1">
            <a:off x="3615813" y="4103616"/>
            <a:ext cx="604" cy="803855"/>
          </a:xfrm>
          <a:prstGeom prst="bentConnector3">
            <a:avLst>
              <a:gd name="adj1" fmla="val -832649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流程圖: 決策 90"/>
          <p:cNvSpPr/>
          <p:nvPr/>
        </p:nvSpPr>
        <p:spPr>
          <a:xfrm>
            <a:off x="3615812" y="6984428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彩票端扣款是否成功</a:t>
            </a:r>
            <a:r>
              <a:rPr lang="en-US" altLang="zh-TW" sz="675" dirty="0" smtClean="0"/>
              <a:t>?</a:t>
            </a:r>
            <a:endParaRPr lang="zh-TW" altLang="en-US" sz="675" dirty="0"/>
          </a:p>
        </p:txBody>
      </p:sp>
      <p:cxnSp>
        <p:nvCxnSpPr>
          <p:cNvPr id="92" name="直線單箭頭接點 91"/>
          <p:cNvCxnSpPr>
            <a:stCxn id="81" idx="2"/>
            <a:endCxn id="91" idx="0"/>
          </p:cNvCxnSpPr>
          <p:nvPr/>
        </p:nvCxnSpPr>
        <p:spPr>
          <a:xfrm>
            <a:off x="4112852" y="6690139"/>
            <a:ext cx="0" cy="294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橢圓 95"/>
          <p:cNvSpPr/>
          <p:nvPr/>
        </p:nvSpPr>
        <p:spPr>
          <a:xfrm>
            <a:off x="3638280" y="7861745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投注成功</a:t>
            </a:r>
            <a:endParaRPr lang="zh-TW" altLang="en-US" sz="675" dirty="0"/>
          </a:p>
        </p:txBody>
      </p:sp>
      <p:cxnSp>
        <p:nvCxnSpPr>
          <p:cNvPr id="97" name="直線單箭頭接點 96"/>
          <p:cNvCxnSpPr>
            <a:stCxn id="91" idx="2"/>
            <a:endCxn id="96" idx="0"/>
          </p:cNvCxnSpPr>
          <p:nvPr/>
        </p:nvCxnSpPr>
        <p:spPr>
          <a:xfrm>
            <a:off x="4112852" y="7553181"/>
            <a:ext cx="2686" cy="30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字方塊 97"/>
          <p:cNvSpPr txBox="1"/>
          <p:nvPr/>
        </p:nvSpPr>
        <p:spPr>
          <a:xfrm>
            <a:off x="4045690" y="7553181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cxnSp>
        <p:nvCxnSpPr>
          <p:cNvPr id="100" name="肘形接點 99"/>
          <p:cNvCxnSpPr>
            <a:stCxn id="91" idx="1"/>
            <a:endCxn id="81" idx="1"/>
          </p:cNvCxnSpPr>
          <p:nvPr/>
        </p:nvCxnSpPr>
        <p:spPr>
          <a:xfrm rot="10800000">
            <a:off x="3615812" y="6447801"/>
            <a:ext cx="12700" cy="821004"/>
          </a:xfrm>
          <a:prstGeom prst="bentConnector3">
            <a:avLst>
              <a:gd name="adj1" fmla="val 396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字方塊 101"/>
          <p:cNvSpPr txBox="1"/>
          <p:nvPr/>
        </p:nvSpPr>
        <p:spPr>
          <a:xfrm>
            <a:off x="2916442" y="6728842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103" name="流程圖: 決策 102"/>
          <p:cNvSpPr/>
          <p:nvPr/>
        </p:nvSpPr>
        <p:spPr>
          <a:xfrm>
            <a:off x="5007188" y="5438256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平台端餘額是否同步</a:t>
            </a:r>
            <a:r>
              <a:rPr lang="en-US" altLang="zh-TW" sz="675" dirty="0" smtClean="0"/>
              <a:t>?</a:t>
            </a:r>
          </a:p>
        </p:txBody>
      </p:sp>
      <p:cxnSp>
        <p:nvCxnSpPr>
          <p:cNvPr id="105" name="直線單箭頭接點 104"/>
          <p:cNvCxnSpPr>
            <a:stCxn id="118" idx="2"/>
            <a:endCxn id="103" idx="0"/>
          </p:cNvCxnSpPr>
          <p:nvPr/>
        </p:nvCxnSpPr>
        <p:spPr>
          <a:xfrm flipH="1">
            <a:off x="5504228" y="5150441"/>
            <a:ext cx="5201" cy="28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肘形接點 108"/>
          <p:cNvCxnSpPr>
            <a:stCxn id="103" idx="2"/>
            <a:endCxn id="81" idx="3"/>
          </p:cNvCxnSpPr>
          <p:nvPr/>
        </p:nvCxnSpPr>
        <p:spPr>
          <a:xfrm rot="5400000">
            <a:off x="4836664" y="5780237"/>
            <a:ext cx="440792" cy="8943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字方塊 109"/>
          <p:cNvSpPr txBox="1"/>
          <p:nvPr/>
        </p:nvSpPr>
        <p:spPr>
          <a:xfrm>
            <a:off x="5447948" y="6329541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cxnSp>
        <p:nvCxnSpPr>
          <p:cNvPr id="114" name="肘形接點 113"/>
          <p:cNvCxnSpPr>
            <a:stCxn id="103" idx="1"/>
            <a:endCxn id="41" idx="3"/>
          </p:cNvCxnSpPr>
          <p:nvPr/>
        </p:nvCxnSpPr>
        <p:spPr>
          <a:xfrm rot="10800000">
            <a:off x="4609894" y="4907471"/>
            <a:ext cx="397295" cy="815163"/>
          </a:xfrm>
          <a:prstGeom prst="bentConnector3">
            <a:avLst>
              <a:gd name="adj1" fmla="val 975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文字方塊 115"/>
          <p:cNvSpPr txBox="1"/>
          <p:nvPr/>
        </p:nvSpPr>
        <p:spPr>
          <a:xfrm>
            <a:off x="4393592" y="5208242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118" name="矩形 117"/>
          <p:cNvSpPr/>
          <p:nvPr/>
        </p:nvSpPr>
        <p:spPr>
          <a:xfrm>
            <a:off x="5012389" y="4665765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平台端新增</a:t>
            </a:r>
            <a:endParaRPr lang="en-US" altLang="zh-TW" sz="675" dirty="0" smtClean="0"/>
          </a:p>
          <a:p>
            <a:pPr algn="ctr"/>
            <a:r>
              <a:rPr lang="zh-TW" altLang="en-US" sz="675" dirty="0" smtClean="0"/>
              <a:t>優惠活動入款</a:t>
            </a:r>
            <a:endParaRPr lang="zh-TW" altLang="en-US" sz="675" dirty="0"/>
          </a:p>
        </p:txBody>
      </p:sp>
      <p:cxnSp>
        <p:nvCxnSpPr>
          <p:cNvPr id="121" name="直線單箭頭接點 120"/>
          <p:cNvCxnSpPr>
            <a:stCxn id="41" idx="3"/>
            <a:endCxn id="118" idx="1"/>
          </p:cNvCxnSpPr>
          <p:nvPr/>
        </p:nvCxnSpPr>
        <p:spPr>
          <a:xfrm>
            <a:off x="4609893" y="4907470"/>
            <a:ext cx="402496" cy="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肘形接點 122"/>
          <p:cNvCxnSpPr>
            <a:stCxn id="39" idx="1"/>
            <a:endCxn id="81" idx="1"/>
          </p:cNvCxnSpPr>
          <p:nvPr/>
        </p:nvCxnSpPr>
        <p:spPr>
          <a:xfrm rot="10800000" flipV="1">
            <a:off x="3615813" y="3250485"/>
            <a:ext cx="14165" cy="3197315"/>
          </a:xfrm>
          <a:prstGeom prst="bentConnector3">
            <a:avLst>
              <a:gd name="adj1" fmla="val 59743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文字方塊 124"/>
          <p:cNvSpPr txBox="1"/>
          <p:nvPr/>
        </p:nvSpPr>
        <p:spPr>
          <a:xfrm>
            <a:off x="2553166" y="4259306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7798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736918" y="133586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马上投</a:t>
            </a:r>
            <a:endParaRPr lang="zh-TW" altLang="en-US" sz="675" dirty="0"/>
          </a:p>
        </p:txBody>
      </p:sp>
      <p:sp>
        <p:nvSpPr>
          <p:cNvPr id="10" name="矩形 9"/>
          <p:cNvSpPr/>
          <p:nvPr/>
        </p:nvSpPr>
        <p:spPr>
          <a:xfrm>
            <a:off x="717219" y="2169531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计画员投注确认页</a:t>
            </a:r>
            <a:endParaRPr lang="zh-TW" altLang="en-US" sz="675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621792" y="343763"/>
            <a:ext cx="2080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 smtClean="0"/>
              <a:t>计画员投注</a:t>
            </a:r>
            <a:endParaRPr lang="zh-TW" altLang="en-US" sz="2800" dirty="0"/>
          </a:p>
        </p:txBody>
      </p:sp>
      <p:cxnSp>
        <p:nvCxnSpPr>
          <p:cNvPr id="3" name="直線單箭頭接點 2"/>
          <p:cNvCxnSpPr>
            <a:stCxn id="4" idx="4"/>
            <a:endCxn id="7" idx="0"/>
          </p:cNvCxnSpPr>
          <p:nvPr/>
        </p:nvCxnSpPr>
        <p:spPr>
          <a:xfrm>
            <a:off x="1214176" y="1894729"/>
            <a:ext cx="83" cy="271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流程圖: 決策 46"/>
          <p:cNvSpPr/>
          <p:nvPr/>
        </p:nvSpPr>
        <p:spPr>
          <a:xfrm>
            <a:off x="723315" y="3818886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期号是否可下注？</a:t>
            </a:r>
            <a:endParaRPr lang="zh-TW" altLang="en-US" sz="675" dirty="0"/>
          </a:p>
        </p:txBody>
      </p:sp>
      <p:cxnSp>
        <p:nvCxnSpPr>
          <p:cNvPr id="8" name="直線單箭頭接點 7"/>
          <p:cNvCxnSpPr>
            <a:stCxn id="47" idx="2"/>
          </p:cNvCxnSpPr>
          <p:nvPr/>
        </p:nvCxnSpPr>
        <p:spPr>
          <a:xfrm>
            <a:off x="1220355" y="4387639"/>
            <a:ext cx="3095" cy="365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1179752" y="4423661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2221038" y="2793350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sp>
        <p:nvSpPr>
          <p:cNvPr id="59" name="矩形 58"/>
          <p:cNvSpPr/>
          <p:nvPr/>
        </p:nvSpPr>
        <p:spPr>
          <a:xfrm>
            <a:off x="717219" y="4755718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投注成功</a:t>
            </a:r>
            <a:endParaRPr lang="zh-TW" altLang="en-US" sz="675" dirty="0"/>
          </a:p>
        </p:txBody>
      </p:sp>
      <p:sp>
        <p:nvSpPr>
          <p:cNvPr id="64" name="橢圓 63"/>
          <p:cNvSpPr/>
          <p:nvPr/>
        </p:nvSpPr>
        <p:spPr>
          <a:xfrm>
            <a:off x="737687" y="5608473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回聊天室页面</a:t>
            </a:r>
            <a:endParaRPr lang="zh-TW" altLang="en-US" sz="675" dirty="0"/>
          </a:p>
        </p:txBody>
      </p:sp>
      <p:cxnSp>
        <p:nvCxnSpPr>
          <p:cNvPr id="17" name="直線單箭頭接點 16"/>
          <p:cNvCxnSpPr>
            <a:stCxn id="59" idx="2"/>
            <a:endCxn id="64" idx="0"/>
          </p:cNvCxnSpPr>
          <p:nvPr/>
        </p:nvCxnSpPr>
        <p:spPr>
          <a:xfrm>
            <a:off x="1214259" y="5240394"/>
            <a:ext cx="686" cy="368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2323353" y="4755718"/>
            <a:ext cx="994080" cy="4846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投注失败</a:t>
            </a:r>
            <a:endParaRPr lang="zh-TW" altLang="en-US" sz="675" dirty="0"/>
          </a:p>
        </p:txBody>
      </p:sp>
      <p:sp>
        <p:nvSpPr>
          <p:cNvPr id="66" name="橢圓 65"/>
          <p:cNvSpPr/>
          <p:nvPr/>
        </p:nvSpPr>
        <p:spPr>
          <a:xfrm>
            <a:off x="2350726" y="5594488"/>
            <a:ext cx="954515" cy="55886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停在原页并刷新</a:t>
            </a:r>
            <a:endParaRPr lang="zh-TW" altLang="en-US" sz="675" dirty="0"/>
          </a:p>
        </p:txBody>
      </p:sp>
      <p:cxnSp>
        <p:nvCxnSpPr>
          <p:cNvPr id="21" name="直線單箭頭接點 20"/>
          <p:cNvCxnSpPr>
            <a:stCxn id="65" idx="2"/>
            <a:endCxn id="66" idx="0"/>
          </p:cNvCxnSpPr>
          <p:nvPr/>
        </p:nvCxnSpPr>
        <p:spPr>
          <a:xfrm>
            <a:off x="2820393" y="5240394"/>
            <a:ext cx="7591" cy="354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肘形接點 25"/>
          <p:cNvCxnSpPr>
            <a:stCxn id="47" idx="3"/>
            <a:endCxn id="10" idx="3"/>
          </p:cNvCxnSpPr>
          <p:nvPr/>
        </p:nvCxnSpPr>
        <p:spPr>
          <a:xfrm flipH="1" flipV="1">
            <a:off x="1711299" y="2411869"/>
            <a:ext cx="6096" cy="1691394"/>
          </a:xfrm>
          <a:prstGeom prst="bentConnector3">
            <a:avLst>
              <a:gd name="adj1" fmla="val -81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2520519" y="2503123"/>
            <a:ext cx="461665" cy="125201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dirty="0" smtClean="0"/>
              <a:t>页面刷新</a:t>
            </a:r>
            <a:endParaRPr lang="zh-TW" altLang="en-US" dirty="0"/>
          </a:p>
        </p:txBody>
      </p:sp>
      <p:sp>
        <p:nvSpPr>
          <p:cNvPr id="70" name="流程圖: 決策 69"/>
          <p:cNvSpPr/>
          <p:nvPr/>
        </p:nvSpPr>
        <p:spPr>
          <a:xfrm>
            <a:off x="721737" y="2973189"/>
            <a:ext cx="994080" cy="5687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1435" tIns="25718" rIns="51435" bIns="2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TW" altLang="en-US" sz="675" dirty="0" smtClean="0"/>
              <a:t>投注内容是否符合规范？</a:t>
            </a:r>
            <a:endParaRPr lang="zh-TW" altLang="en-US" sz="675" dirty="0"/>
          </a:p>
        </p:txBody>
      </p:sp>
      <p:cxnSp>
        <p:nvCxnSpPr>
          <p:cNvPr id="72" name="直線單箭頭接點 71"/>
          <p:cNvCxnSpPr>
            <a:stCxn id="10" idx="2"/>
            <a:endCxn id="70" idx="0"/>
          </p:cNvCxnSpPr>
          <p:nvPr/>
        </p:nvCxnSpPr>
        <p:spPr>
          <a:xfrm>
            <a:off x="1214259" y="2654207"/>
            <a:ext cx="4518" cy="318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單箭頭接點 74"/>
          <p:cNvCxnSpPr>
            <a:stCxn id="70" idx="2"/>
            <a:endCxn id="47" idx="0"/>
          </p:cNvCxnSpPr>
          <p:nvPr/>
        </p:nvCxnSpPr>
        <p:spPr>
          <a:xfrm>
            <a:off x="1218777" y="3541942"/>
            <a:ext cx="1578" cy="276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179752" y="3554654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  <p:cxnSp>
        <p:nvCxnSpPr>
          <p:cNvPr id="80" name="肘形接點 79"/>
          <p:cNvCxnSpPr>
            <a:stCxn id="70" idx="1"/>
            <a:endCxn id="10" idx="1"/>
          </p:cNvCxnSpPr>
          <p:nvPr/>
        </p:nvCxnSpPr>
        <p:spPr>
          <a:xfrm rot="10800000">
            <a:off x="717219" y="2411870"/>
            <a:ext cx="4518" cy="845697"/>
          </a:xfrm>
          <a:prstGeom prst="bentConnector3">
            <a:avLst>
              <a:gd name="adj1" fmla="val 51597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方塊 81"/>
          <p:cNvSpPr txBox="1"/>
          <p:nvPr/>
        </p:nvSpPr>
        <p:spPr>
          <a:xfrm>
            <a:off x="224697" y="2726968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否</a:t>
            </a:r>
            <a:endParaRPr lang="zh-TW" altLang="en-US" sz="1000" dirty="0"/>
          </a:p>
        </p:txBody>
      </p:sp>
      <p:cxnSp>
        <p:nvCxnSpPr>
          <p:cNvPr id="83" name="肘形接點 82"/>
          <p:cNvCxnSpPr>
            <a:stCxn id="47" idx="2"/>
            <a:endCxn id="65" idx="0"/>
          </p:cNvCxnSpPr>
          <p:nvPr/>
        </p:nvCxnSpPr>
        <p:spPr>
          <a:xfrm rot="16200000" flipH="1">
            <a:off x="1836335" y="3771659"/>
            <a:ext cx="368079" cy="1600038"/>
          </a:xfrm>
          <a:prstGeom prst="bentConnector3">
            <a:avLst>
              <a:gd name="adj1" fmla="val -13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字方塊 85"/>
          <p:cNvSpPr txBox="1"/>
          <p:nvPr/>
        </p:nvSpPr>
        <p:spPr>
          <a:xfrm>
            <a:off x="2772947" y="4401624"/>
            <a:ext cx="304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是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6928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
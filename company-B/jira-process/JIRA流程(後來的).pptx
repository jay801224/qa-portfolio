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2" r:id="rId7"/>
    <p:sldId id="261" r:id="rId8"/>
    <p:sldId id="265" r:id="rId9"/>
    <p:sldId id="266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826A-5034-4F7D-BE68-D87341714133}" type="datetimeFigureOut">
              <a:rPr lang="zh-TW" altLang="en-US" smtClean="0"/>
              <a:t>2018/3/30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CA2D-3299-4668-B38A-7DC9B9557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2326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826A-5034-4F7D-BE68-D87341714133}" type="datetimeFigureOut">
              <a:rPr lang="zh-TW" altLang="en-US" smtClean="0"/>
              <a:t>2018/3/30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CA2D-3299-4668-B38A-7DC9B9557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5449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826A-5034-4F7D-BE68-D87341714133}" type="datetimeFigureOut">
              <a:rPr lang="zh-TW" altLang="en-US" smtClean="0"/>
              <a:t>2018/3/30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CA2D-3299-4668-B38A-7DC9B9557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7822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826A-5034-4F7D-BE68-D87341714133}" type="datetimeFigureOut">
              <a:rPr lang="zh-TW" altLang="en-US" smtClean="0"/>
              <a:t>2018/3/30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CA2D-3299-4668-B38A-7DC9B9557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8809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826A-5034-4F7D-BE68-D87341714133}" type="datetimeFigureOut">
              <a:rPr lang="zh-TW" altLang="en-US" smtClean="0"/>
              <a:t>2018/3/30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CA2D-3299-4668-B38A-7DC9B9557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083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826A-5034-4F7D-BE68-D87341714133}" type="datetimeFigureOut">
              <a:rPr lang="zh-TW" altLang="en-US" smtClean="0"/>
              <a:t>2018/3/30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CA2D-3299-4668-B38A-7DC9B9557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533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826A-5034-4F7D-BE68-D87341714133}" type="datetimeFigureOut">
              <a:rPr lang="zh-TW" altLang="en-US" smtClean="0"/>
              <a:t>2018/3/30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CA2D-3299-4668-B38A-7DC9B9557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5863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826A-5034-4F7D-BE68-D87341714133}" type="datetimeFigureOut">
              <a:rPr lang="zh-TW" altLang="en-US" smtClean="0"/>
              <a:t>2018/3/30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CA2D-3299-4668-B38A-7DC9B9557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9026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826A-5034-4F7D-BE68-D87341714133}" type="datetimeFigureOut">
              <a:rPr lang="zh-TW" altLang="en-US" smtClean="0"/>
              <a:t>2018/3/30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CA2D-3299-4668-B38A-7DC9B9557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1078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826A-5034-4F7D-BE68-D87341714133}" type="datetimeFigureOut">
              <a:rPr lang="zh-TW" altLang="en-US" smtClean="0"/>
              <a:t>2018/3/30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CA2D-3299-4668-B38A-7DC9B9557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769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826A-5034-4F7D-BE68-D87341714133}" type="datetimeFigureOut">
              <a:rPr lang="zh-TW" altLang="en-US" smtClean="0"/>
              <a:t>2018/3/30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1CA2D-3299-4668-B38A-7DC9B9557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1019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826A-5034-4F7D-BE68-D87341714133}" type="datetimeFigureOut">
              <a:rPr lang="zh-TW" altLang="en-US" smtClean="0"/>
              <a:t>2018/3/30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1CA2D-3299-4668-B38A-7DC9B9557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835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example.internal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37503" y="1542493"/>
            <a:ext cx="9144000" cy="2387600"/>
          </a:xfrm>
        </p:spPr>
        <p:txBody>
          <a:bodyPr/>
          <a:lstStyle/>
          <a:p>
            <a:r>
              <a:rPr lang="en-US" altLang="zh-TW" dirty="0" smtClean="0"/>
              <a:t>JIRA</a:t>
            </a:r>
            <a:r>
              <a:rPr lang="zh-TW" altLang="en-US" dirty="0" smtClean="0"/>
              <a:t> 流程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99886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solidFill>
                  <a:srgbClr val="0070C0"/>
                </a:solidFill>
              </a:rPr>
              <a:t>等待處理的狀態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藍灰色</a:t>
            </a:r>
            <a:endParaRPr lang="en-US" altLang="zh-TW" dirty="0" smtClean="0"/>
          </a:p>
          <a:p>
            <a:r>
              <a:rPr lang="zh-TW" altLang="en-US" dirty="0" smtClean="0"/>
              <a:t>初始狀態 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err="1" smtClean="0"/>
              <a:t>Evalution</a:t>
            </a:r>
            <a:r>
              <a:rPr lang="en-US" altLang="zh-TW" dirty="0" smtClean="0"/>
              <a:t> -&gt; </a:t>
            </a:r>
            <a:r>
              <a:rPr lang="zh-TW" altLang="en-US" dirty="0" smtClean="0"/>
              <a:t>未分配</a:t>
            </a:r>
            <a:endParaRPr lang="en-US" altLang="zh-TW" dirty="0" smtClean="0"/>
          </a:p>
          <a:p>
            <a:r>
              <a:rPr lang="zh-TW" altLang="en-US" dirty="0" smtClean="0"/>
              <a:t>已分配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err="1" smtClean="0"/>
              <a:t>Quene</a:t>
            </a:r>
            <a:r>
              <a:rPr lang="en-US" altLang="zh-TW" dirty="0" smtClean="0"/>
              <a:t> </a:t>
            </a:r>
          </a:p>
          <a:p>
            <a:r>
              <a:rPr lang="en-US" altLang="zh-TW" dirty="0" smtClean="0"/>
              <a:t>QAT </a:t>
            </a:r>
            <a:r>
              <a:rPr lang="en-US" altLang="zh-TW" dirty="0"/>
              <a:t>Verified : QAT</a:t>
            </a:r>
            <a:r>
              <a:rPr lang="zh-TW" altLang="en-US" dirty="0"/>
              <a:t>驗證通過</a:t>
            </a:r>
            <a:endParaRPr lang="en-US" altLang="zh-TW" dirty="0"/>
          </a:p>
          <a:p>
            <a:r>
              <a:rPr lang="en-US" altLang="zh-TW" dirty="0"/>
              <a:t>UAT Verified :</a:t>
            </a:r>
            <a:r>
              <a:rPr lang="zh-TW" altLang="en-US" dirty="0"/>
              <a:t> </a:t>
            </a:r>
            <a:r>
              <a:rPr lang="en-US" altLang="zh-TW" dirty="0"/>
              <a:t>UAT</a:t>
            </a:r>
            <a:r>
              <a:rPr lang="zh-TW" altLang="en-US" dirty="0"/>
              <a:t>驗證</a:t>
            </a:r>
            <a:r>
              <a:rPr lang="zh-TW" altLang="en-US" dirty="0" smtClean="0"/>
              <a:t>通過</a:t>
            </a:r>
            <a:endParaRPr lang="en-US" altLang="zh-TW" dirty="0" smtClean="0"/>
          </a:p>
          <a:p>
            <a:r>
              <a:rPr lang="en-US" altLang="zh-TW" dirty="0" smtClean="0"/>
              <a:t>CS Verified : PROD</a:t>
            </a:r>
            <a:r>
              <a:rPr lang="zh-TW" altLang="en-US" dirty="0"/>
              <a:t>驗證</a:t>
            </a:r>
            <a:r>
              <a:rPr lang="zh-TW" altLang="en-US" dirty="0" smtClean="0"/>
              <a:t>通過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/>
              <a:t>重新打開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Reopen -&gt; </a:t>
            </a:r>
            <a:r>
              <a:rPr lang="zh-TW" altLang="en-US" dirty="0"/>
              <a:t>重新打開</a:t>
            </a:r>
            <a:r>
              <a:rPr lang="en-US" altLang="zh-TW" dirty="0"/>
              <a:t>(</a:t>
            </a:r>
            <a:r>
              <a:rPr lang="zh-TW" altLang="en-US" dirty="0"/>
              <a:t>還是有問題的狀態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26714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solidFill>
                  <a:srgbClr val="0070C0"/>
                </a:solidFill>
              </a:rPr>
              <a:t>進行中的狀態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黃色</a:t>
            </a:r>
            <a:endParaRPr lang="en-US" altLang="zh-TW" dirty="0" smtClean="0"/>
          </a:p>
          <a:p>
            <a:r>
              <a:rPr lang="en-US" altLang="zh-TW" dirty="0" smtClean="0"/>
              <a:t>Doing : RD</a:t>
            </a:r>
            <a:r>
              <a:rPr lang="zh-TW" altLang="en-US" dirty="0" smtClean="0"/>
              <a:t>處理中</a:t>
            </a:r>
            <a:endParaRPr lang="en-US" altLang="zh-TW" dirty="0" smtClean="0"/>
          </a:p>
          <a:p>
            <a:r>
              <a:rPr lang="en-US" altLang="zh-TW" dirty="0" smtClean="0"/>
              <a:t>Branch: RD</a:t>
            </a:r>
            <a:r>
              <a:rPr lang="zh-TW" altLang="en-US" dirty="0" smtClean="0"/>
              <a:t>放上分支</a:t>
            </a:r>
            <a:endParaRPr lang="en-US" altLang="zh-TW" dirty="0" smtClean="0"/>
          </a:p>
          <a:p>
            <a:r>
              <a:rPr lang="en-US" altLang="zh-TW" dirty="0" smtClean="0"/>
              <a:t>Ready for PROD: RD</a:t>
            </a:r>
            <a:r>
              <a:rPr lang="zh-TW" altLang="en-US" dirty="0" smtClean="0"/>
              <a:t>打包要上版的狀態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1664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solidFill>
                  <a:srgbClr val="0070C0"/>
                </a:solidFill>
              </a:rPr>
              <a:t>已完成的狀態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4116"/>
          </a:xfrm>
        </p:spPr>
        <p:txBody>
          <a:bodyPr/>
          <a:lstStyle/>
          <a:p>
            <a:r>
              <a:rPr lang="zh-TW" altLang="en-US" dirty="0" smtClean="0"/>
              <a:t>綠色</a:t>
            </a:r>
            <a:endParaRPr lang="en-US" altLang="zh-TW" dirty="0" smtClean="0"/>
          </a:p>
          <a:p>
            <a:r>
              <a:rPr lang="en-US" altLang="zh-TW" dirty="0" smtClean="0"/>
              <a:t>Ready for QA : RD </a:t>
            </a:r>
            <a:r>
              <a:rPr lang="zh-TW" altLang="en-US" dirty="0" smtClean="0"/>
              <a:t>已完成</a:t>
            </a:r>
            <a:endParaRPr lang="en-US" altLang="zh-TW" dirty="0" smtClean="0"/>
          </a:p>
          <a:p>
            <a:r>
              <a:rPr lang="en-US" altLang="zh-TW" dirty="0" smtClean="0"/>
              <a:t>Not a bug : </a:t>
            </a:r>
            <a:r>
              <a:rPr lang="zh-TW" altLang="en-US" dirty="0" smtClean="0"/>
              <a:t>判定非</a:t>
            </a:r>
            <a:r>
              <a:rPr lang="en-US" altLang="zh-TW" dirty="0" smtClean="0"/>
              <a:t>bug</a:t>
            </a:r>
            <a:endParaRPr lang="en-US" altLang="zh-TW" dirty="0"/>
          </a:p>
          <a:p>
            <a:r>
              <a:rPr lang="en-US" altLang="zh-TW" dirty="0" smtClean="0"/>
              <a:t>Duplicated : </a:t>
            </a:r>
            <a:r>
              <a:rPr lang="zh-TW" altLang="en-US" dirty="0" smtClean="0"/>
              <a:t>重複開單</a:t>
            </a:r>
            <a:endParaRPr lang="en-US" altLang="zh-TW" dirty="0" smtClean="0"/>
          </a:p>
          <a:p>
            <a:r>
              <a:rPr lang="en-US" altLang="zh-TW" dirty="0" smtClean="0"/>
              <a:t>Can’t reproduce : </a:t>
            </a:r>
            <a:r>
              <a:rPr lang="zh-TW" altLang="en-US" dirty="0" smtClean="0"/>
              <a:t>無法重現</a:t>
            </a:r>
            <a:endParaRPr lang="en-US" altLang="zh-TW" dirty="0" smtClean="0"/>
          </a:p>
          <a:p>
            <a:r>
              <a:rPr lang="en-US" altLang="zh-TW" dirty="0" smtClean="0"/>
              <a:t>Won’t do : </a:t>
            </a:r>
            <a:r>
              <a:rPr lang="zh-TW" altLang="en-US" dirty="0" smtClean="0"/>
              <a:t>不做</a:t>
            </a:r>
            <a:endParaRPr lang="en-US" altLang="zh-TW" dirty="0" smtClean="0"/>
          </a:p>
          <a:p>
            <a:r>
              <a:rPr lang="zh-TW" altLang="en-US" dirty="0" smtClean="0"/>
              <a:t>結束狀態 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b="1" dirty="0" smtClean="0">
                <a:solidFill>
                  <a:srgbClr val="FF0000"/>
                </a:solidFill>
              </a:rPr>
              <a:t>Closed</a:t>
            </a:r>
            <a:r>
              <a:rPr lang="en-US" altLang="zh-TW" dirty="0" smtClean="0"/>
              <a:t> </a:t>
            </a:r>
            <a:r>
              <a:rPr lang="zh-TW" altLang="en-US" dirty="0"/>
              <a:t>，</a:t>
            </a:r>
            <a:r>
              <a:rPr lang="en-US" altLang="zh-TW" dirty="0" smtClean="0"/>
              <a:t> </a:t>
            </a:r>
            <a:r>
              <a:rPr lang="zh-TW" altLang="en-US" dirty="0" smtClean="0"/>
              <a:t>已上線，且修復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66822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單子種類</a:t>
            </a:r>
            <a:r>
              <a:rPr lang="en-US" altLang="zh-TW" dirty="0" smtClean="0"/>
              <a:t>(issue type)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2"/>
              </a:rPr>
              <a:t>https://example.internal/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97941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討論後的</a:t>
            </a:r>
            <a:r>
              <a:rPr lang="en-US" altLang="zh-TW" dirty="0" err="1" smtClean="0"/>
              <a:t>jira</a:t>
            </a:r>
            <a:r>
              <a:rPr lang="zh-TW" altLang="en-US" dirty="0" smtClean="0"/>
              <a:t>流程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 smtClean="0"/>
              <a:t>綠色的狀態都是</a:t>
            </a:r>
            <a:r>
              <a:rPr lang="en-US" altLang="zh-TW" dirty="0" smtClean="0"/>
              <a:t>PM</a:t>
            </a:r>
            <a:r>
              <a:rPr lang="zh-TW" altLang="en-US" dirty="0" smtClean="0"/>
              <a:t>的權限</a:t>
            </a:r>
            <a:r>
              <a:rPr lang="en-US" altLang="zh-TW" dirty="0" smtClean="0"/>
              <a:t>(</a:t>
            </a:r>
            <a:r>
              <a:rPr lang="zh-TW" altLang="en-US" dirty="0" smtClean="0"/>
              <a:t>所有狀態都可以切過來</a:t>
            </a:r>
            <a:r>
              <a:rPr lang="en-US" altLang="zh-TW" dirty="0" smtClean="0"/>
              <a:t>)</a:t>
            </a:r>
            <a:r>
              <a:rPr lang="zh-TW" altLang="en-US" dirty="0" smtClean="0"/>
              <a:t>，否則都走正常流程</a:t>
            </a:r>
            <a:endParaRPr lang="en-US" altLang="zh-TW" dirty="0" smtClean="0"/>
          </a:p>
          <a:p>
            <a:r>
              <a:rPr lang="zh-TW" altLang="en-US" dirty="0" smtClean="0"/>
              <a:t>四個區塊都是各自部門的權限</a:t>
            </a:r>
            <a:endParaRPr lang="en-US" altLang="zh-TW" dirty="0" smtClean="0"/>
          </a:p>
          <a:p>
            <a:r>
              <a:rPr lang="en-US" altLang="zh-TW" dirty="0" smtClean="0"/>
              <a:t>Online bug</a:t>
            </a:r>
            <a:r>
              <a:rPr lang="zh-TW" altLang="en-US" dirty="0" smtClean="0"/>
              <a:t>的標籤才會有</a:t>
            </a:r>
            <a:r>
              <a:rPr lang="en-US" altLang="zh-TW" dirty="0" smtClean="0"/>
              <a:t>CS Verified</a:t>
            </a:r>
          </a:p>
          <a:p>
            <a:r>
              <a:rPr lang="zh-TW" altLang="en-US" dirty="0" smtClean="0"/>
              <a:t>初始狀態都是</a:t>
            </a:r>
            <a:r>
              <a:rPr lang="en-US" altLang="zh-TW" dirty="0" err="1" smtClean="0"/>
              <a:t>Evalution</a:t>
            </a:r>
            <a:endParaRPr lang="en-US" altLang="zh-TW" dirty="0" smtClean="0"/>
          </a:p>
          <a:p>
            <a:r>
              <a:rPr lang="zh-TW" altLang="en-US" dirty="0" smtClean="0"/>
              <a:t>前端專案</a:t>
            </a:r>
            <a:r>
              <a:rPr lang="en-US" altLang="zh-TW" dirty="0" smtClean="0"/>
              <a:t>(MOB/VMOB/LO)</a:t>
            </a:r>
          </a:p>
          <a:p>
            <a:r>
              <a:rPr lang="zh-TW" altLang="en-US" dirty="0" smtClean="0"/>
              <a:t>後端專案</a:t>
            </a:r>
            <a:r>
              <a:rPr lang="en-US" altLang="zh-TW" dirty="0" smtClean="0"/>
              <a:t>:</a:t>
            </a:r>
            <a:r>
              <a:rPr lang="zh-TW" altLang="en-US" dirty="0" smtClean="0"/>
              <a:t>平</a:t>
            </a:r>
            <a:r>
              <a:rPr lang="zh-TW" altLang="en-US" dirty="0"/>
              <a:t>台</a:t>
            </a:r>
            <a:r>
              <a:rPr lang="en-US" altLang="zh-TW" dirty="0" smtClean="0"/>
              <a:t>(GP/GP2)</a:t>
            </a:r>
          </a:p>
          <a:p>
            <a:r>
              <a:rPr lang="zh-TW" altLang="en-US" dirty="0" smtClean="0"/>
              <a:t>因為</a:t>
            </a:r>
            <a:r>
              <a:rPr lang="en-US" altLang="zh-TW" dirty="0" smtClean="0"/>
              <a:t>DLP</a:t>
            </a:r>
            <a:r>
              <a:rPr lang="zh-TW" altLang="en-US" dirty="0" smtClean="0"/>
              <a:t>有&lt;PRODUCT&gt;</a:t>
            </a:r>
            <a:r>
              <a:rPr lang="en-US" altLang="zh-TW" dirty="0" smtClean="0"/>
              <a:t>+</a:t>
            </a:r>
            <a:r>
              <a:rPr lang="zh-TW" altLang="en-US" dirty="0" smtClean="0"/>
              <a:t>後端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Q</a:t>
            </a:r>
            <a:r>
              <a:rPr lang="en-US" altLang="zh-TW" dirty="0"/>
              <a:t>:</a:t>
            </a:r>
            <a:r>
              <a:rPr lang="zh-TW" altLang="en-US" dirty="0"/>
              <a:t>專案是否要分開，否則套用前端狀態</a:t>
            </a:r>
            <a:r>
              <a:rPr lang="zh-TW" altLang="en-US" dirty="0" smtClean="0"/>
              <a:t>，會多</a:t>
            </a:r>
            <a:r>
              <a:rPr lang="en-US" altLang="zh-TW" dirty="0" smtClean="0"/>
              <a:t>waiting API</a:t>
            </a:r>
          </a:p>
          <a:p>
            <a:r>
              <a:rPr lang="en-US" altLang="zh-TW" dirty="0" smtClean="0"/>
              <a:t>Ready for QA</a:t>
            </a:r>
            <a:r>
              <a:rPr lang="zh-TW" altLang="en-US" dirty="0" smtClean="0"/>
              <a:t>會自動掛在</a:t>
            </a:r>
            <a:r>
              <a:rPr lang="en-US" altLang="zh-TW" dirty="0" err="1" smtClean="0"/>
              <a:t>qa</a:t>
            </a:r>
            <a:r>
              <a:rPr lang="zh-TW" altLang="en-US" dirty="0" smtClean="0"/>
              <a:t>頭身上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13860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5121"/>
          </a:xfrm>
        </p:spPr>
        <p:txBody>
          <a:bodyPr>
            <a:normAutofit/>
          </a:bodyPr>
          <a:lstStyle/>
          <a:p>
            <a:pPr algn="ctr"/>
            <a:r>
              <a:rPr lang="zh-TW" altLang="en-US" sz="3600" dirty="0" smtClean="0"/>
              <a:t>前端專案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67861" y="1195753"/>
            <a:ext cx="10515600" cy="4963625"/>
          </a:xfrm>
        </p:spPr>
        <p:txBody>
          <a:bodyPr/>
          <a:lstStyle/>
          <a:p>
            <a:r>
              <a:rPr lang="en-US" altLang="zh-TW" dirty="0" smtClean="0"/>
              <a:t>QA/ PM              RD                               QA                                CS/ PM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905603" y="1978267"/>
            <a:ext cx="1292470" cy="307731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EVALUTION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3423141" y="2795952"/>
            <a:ext cx="1292470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In progress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65747" y="4351977"/>
            <a:ext cx="1353784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Done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19528" y="1965016"/>
            <a:ext cx="1292470" cy="307731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Reopen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5040920" y="4980839"/>
            <a:ext cx="1292470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</a:t>
            </a:r>
            <a:r>
              <a:rPr lang="en-US" altLang="zh-TW" dirty="0" smtClean="0">
                <a:solidFill>
                  <a:schemeClr val="tx1"/>
                </a:solidFill>
              </a:rPr>
              <a:t>esting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837480" y="4484443"/>
            <a:ext cx="1400906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QAT Verified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819903" y="5495078"/>
            <a:ext cx="1400906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UAT Verified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4" name="肘形接點 23"/>
          <p:cNvCxnSpPr>
            <a:stCxn id="17" idx="0"/>
            <a:endCxn id="60" idx="2"/>
          </p:cNvCxnSpPr>
          <p:nvPr/>
        </p:nvCxnSpPr>
        <p:spPr>
          <a:xfrm rot="5400000" flipH="1" flipV="1">
            <a:off x="5379556" y="4035430"/>
            <a:ext cx="1253009" cy="637811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肘形接點 25"/>
          <p:cNvCxnSpPr>
            <a:stCxn id="19" idx="2"/>
            <a:endCxn id="11" idx="3"/>
          </p:cNvCxnSpPr>
          <p:nvPr/>
        </p:nvCxnSpPr>
        <p:spPr>
          <a:xfrm rot="5400000" flipH="1">
            <a:off x="4474213" y="2756667"/>
            <a:ext cx="3683927" cy="2408358"/>
          </a:xfrm>
          <a:prstGeom prst="bentConnector4">
            <a:avLst>
              <a:gd name="adj1" fmla="val -6205"/>
              <a:gd name="adj2" fmla="val 64542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肘形接點 27"/>
          <p:cNvCxnSpPr/>
          <p:nvPr/>
        </p:nvCxnSpPr>
        <p:spPr>
          <a:xfrm rot="16200000" flipH="1">
            <a:off x="7285341" y="5145761"/>
            <a:ext cx="681041" cy="5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肘形接點 29"/>
          <p:cNvCxnSpPr>
            <a:stCxn id="17" idx="3"/>
            <a:endCxn id="18" idx="1"/>
          </p:cNvCxnSpPr>
          <p:nvPr/>
        </p:nvCxnSpPr>
        <p:spPr>
          <a:xfrm flipV="1">
            <a:off x="6333390" y="4638309"/>
            <a:ext cx="504090" cy="496396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肘形接點 31"/>
          <p:cNvCxnSpPr>
            <a:stCxn id="19" idx="1"/>
            <a:endCxn id="17" idx="2"/>
          </p:cNvCxnSpPr>
          <p:nvPr/>
        </p:nvCxnSpPr>
        <p:spPr>
          <a:xfrm rot="10800000">
            <a:off x="5687155" y="5288570"/>
            <a:ext cx="1132748" cy="360374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肘形接點 33"/>
          <p:cNvCxnSpPr>
            <a:stCxn id="6" idx="3"/>
            <a:endCxn id="37" idx="1"/>
          </p:cNvCxnSpPr>
          <p:nvPr/>
        </p:nvCxnSpPr>
        <p:spPr>
          <a:xfrm flipV="1">
            <a:off x="2198073" y="2129806"/>
            <a:ext cx="212852" cy="2327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肘形接點 35"/>
          <p:cNvCxnSpPr>
            <a:stCxn id="7" idx="2"/>
            <a:endCxn id="10" idx="0"/>
          </p:cNvCxnSpPr>
          <p:nvPr/>
        </p:nvCxnSpPr>
        <p:spPr>
          <a:xfrm rot="5400000">
            <a:off x="3381861" y="3664462"/>
            <a:ext cx="1248294" cy="126737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肘形接點 37"/>
          <p:cNvCxnSpPr>
            <a:stCxn id="10" idx="2"/>
            <a:endCxn id="17" idx="1"/>
          </p:cNvCxnSpPr>
          <p:nvPr/>
        </p:nvCxnSpPr>
        <p:spPr>
          <a:xfrm rot="16200000" flipH="1">
            <a:off x="4254281" y="4348065"/>
            <a:ext cx="474997" cy="1098281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肘形接點 39"/>
          <p:cNvCxnSpPr>
            <a:stCxn id="18" idx="0"/>
            <a:endCxn id="11" idx="3"/>
          </p:cNvCxnSpPr>
          <p:nvPr/>
        </p:nvCxnSpPr>
        <p:spPr>
          <a:xfrm rot="16200000" flipV="1">
            <a:off x="5142186" y="2088695"/>
            <a:ext cx="2365561" cy="2425935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肘形接點 51"/>
          <p:cNvCxnSpPr>
            <a:stCxn id="11" idx="2"/>
            <a:endCxn id="7" idx="3"/>
          </p:cNvCxnSpPr>
          <p:nvPr/>
        </p:nvCxnSpPr>
        <p:spPr>
          <a:xfrm rot="16200000" flipH="1">
            <a:off x="4252152" y="2486358"/>
            <a:ext cx="677071" cy="249848"/>
          </a:xfrm>
          <a:prstGeom prst="bentConnector4">
            <a:avLst>
              <a:gd name="adj1" fmla="val 38637"/>
              <a:gd name="adj2" fmla="val 350147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4862150" y="1169377"/>
            <a:ext cx="8792" cy="502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2368064" y="1154724"/>
            <a:ext cx="8792" cy="502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8326315" y="1169377"/>
            <a:ext cx="8792" cy="502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2748972" y="5513024"/>
            <a:ext cx="1716791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Ready for PROD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61" name="肘形接點 60"/>
          <p:cNvCxnSpPr/>
          <p:nvPr/>
        </p:nvCxnSpPr>
        <p:spPr>
          <a:xfrm>
            <a:off x="4462832" y="5693380"/>
            <a:ext cx="2357071" cy="12700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2472470" y="3528095"/>
            <a:ext cx="1292470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Waiting API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69" name="肘形接點 68"/>
          <p:cNvCxnSpPr/>
          <p:nvPr/>
        </p:nvCxnSpPr>
        <p:spPr>
          <a:xfrm rot="5400000" flipH="1" flipV="1">
            <a:off x="3135699" y="3159597"/>
            <a:ext cx="390250" cy="331174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肘形接點 70"/>
          <p:cNvCxnSpPr>
            <a:stCxn id="64" idx="2"/>
            <a:endCxn id="10" idx="1"/>
          </p:cNvCxnSpPr>
          <p:nvPr/>
        </p:nvCxnSpPr>
        <p:spPr>
          <a:xfrm rot="16200000" flipH="1">
            <a:off x="2857218" y="4097313"/>
            <a:ext cx="670017" cy="147042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10151545" y="5513024"/>
            <a:ext cx="1716794" cy="307731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Closed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8648061" y="6198577"/>
            <a:ext cx="1400906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CS Verified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肘形接點 77"/>
          <p:cNvCxnSpPr>
            <a:stCxn id="59" idx="2"/>
          </p:cNvCxnSpPr>
          <p:nvPr/>
        </p:nvCxnSpPr>
        <p:spPr>
          <a:xfrm rot="16200000" flipH="1">
            <a:off x="5855277" y="3572846"/>
            <a:ext cx="544876" cy="5040694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肘形接點 79"/>
          <p:cNvCxnSpPr>
            <a:stCxn id="76" idx="3"/>
            <a:endCxn id="75" idx="2"/>
          </p:cNvCxnSpPr>
          <p:nvPr/>
        </p:nvCxnSpPr>
        <p:spPr>
          <a:xfrm flipV="1">
            <a:off x="10048967" y="5820755"/>
            <a:ext cx="960975" cy="531688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10155115" y="4983105"/>
            <a:ext cx="1713033" cy="307731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Duplicated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10155115" y="4462405"/>
            <a:ext cx="1710109" cy="307731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Not a bug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0155115" y="3921745"/>
            <a:ext cx="1710109" cy="307731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Won’t do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0155115" y="3432308"/>
            <a:ext cx="1721834" cy="307731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Can’t reproduce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410925" y="1975940"/>
            <a:ext cx="1292470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>
                <a:solidFill>
                  <a:schemeClr val="tx1"/>
                </a:solidFill>
              </a:rPr>
              <a:t>Quene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9" name="肘形接點 8"/>
          <p:cNvCxnSpPr>
            <a:stCxn id="37" idx="2"/>
            <a:endCxn id="7" idx="0"/>
          </p:cNvCxnSpPr>
          <p:nvPr/>
        </p:nvCxnSpPr>
        <p:spPr>
          <a:xfrm rot="16200000" flipH="1">
            <a:off x="3307128" y="2033703"/>
            <a:ext cx="512281" cy="1012216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5614250" y="3420099"/>
            <a:ext cx="1421431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Ready for QA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8" name="肘形接點 47"/>
          <p:cNvCxnSpPr>
            <a:stCxn id="10" idx="3"/>
            <a:endCxn id="60" idx="1"/>
          </p:cNvCxnSpPr>
          <p:nvPr/>
        </p:nvCxnSpPr>
        <p:spPr>
          <a:xfrm flipV="1">
            <a:off x="4619531" y="3573965"/>
            <a:ext cx="994719" cy="931878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512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5121"/>
          </a:xfrm>
        </p:spPr>
        <p:txBody>
          <a:bodyPr>
            <a:normAutofit/>
          </a:bodyPr>
          <a:lstStyle/>
          <a:p>
            <a:pPr algn="ctr"/>
            <a:r>
              <a:rPr lang="zh-TW" altLang="en-US" sz="3600" dirty="0" smtClean="0"/>
              <a:t>后端專案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67861" y="1195753"/>
            <a:ext cx="10515600" cy="4963625"/>
          </a:xfrm>
        </p:spPr>
        <p:txBody>
          <a:bodyPr/>
          <a:lstStyle/>
          <a:p>
            <a:r>
              <a:rPr lang="en-US" altLang="zh-TW" dirty="0" smtClean="0"/>
              <a:t>QA/ PM              RD                               QA                                CS/ PM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905603" y="1978267"/>
            <a:ext cx="1292470" cy="307731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EVALUTION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3423141" y="2795952"/>
            <a:ext cx="1292470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In </a:t>
            </a:r>
            <a:r>
              <a:rPr lang="en-US" altLang="zh-TW" dirty="0">
                <a:solidFill>
                  <a:schemeClr val="tx1"/>
                </a:solidFill>
              </a:rPr>
              <a:t>progress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65747" y="4351977"/>
            <a:ext cx="1353784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Done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19528" y="1965016"/>
            <a:ext cx="1292470" cy="307731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Reopen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5040920" y="4980839"/>
            <a:ext cx="1292470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</a:t>
            </a:r>
            <a:r>
              <a:rPr lang="en-US" altLang="zh-TW" dirty="0" smtClean="0">
                <a:solidFill>
                  <a:schemeClr val="tx1"/>
                </a:solidFill>
              </a:rPr>
              <a:t>esting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837480" y="4484443"/>
            <a:ext cx="1400906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QAT Verified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819903" y="5495078"/>
            <a:ext cx="1400906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UAT Verified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4" name="肘形接點 23"/>
          <p:cNvCxnSpPr>
            <a:stCxn id="17" idx="0"/>
            <a:endCxn id="60" idx="2"/>
          </p:cNvCxnSpPr>
          <p:nvPr/>
        </p:nvCxnSpPr>
        <p:spPr>
          <a:xfrm rot="5400000" flipH="1" flipV="1">
            <a:off x="5379556" y="4035430"/>
            <a:ext cx="1253009" cy="637811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肘形接點 25"/>
          <p:cNvCxnSpPr>
            <a:stCxn id="19" idx="2"/>
            <a:endCxn id="11" idx="3"/>
          </p:cNvCxnSpPr>
          <p:nvPr/>
        </p:nvCxnSpPr>
        <p:spPr>
          <a:xfrm rot="5400000" flipH="1">
            <a:off x="4474213" y="2756667"/>
            <a:ext cx="3683927" cy="2408358"/>
          </a:xfrm>
          <a:prstGeom prst="bentConnector4">
            <a:avLst>
              <a:gd name="adj1" fmla="val -6205"/>
              <a:gd name="adj2" fmla="val 64542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肘形接點 27"/>
          <p:cNvCxnSpPr/>
          <p:nvPr/>
        </p:nvCxnSpPr>
        <p:spPr>
          <a:xfrm rot="16200000" flipH="1">
            <a:off x="7285341" y="5145761"/>
            <a:ext cx="681041" cy="5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肘形接點 29"/>
          <p:cNvCxnSpPr>
            <a:stCxn id="17" idx="3"/>
            <a:endCxn id="18" idx="1"/>
          </p:cNvCxnSpPr>
          <p:nvPr/>
        </p:nvCxnSpPr>
        <p:spPr>
          <a:xfrm flipV="1">
            <a:off x="6333390" y="4638309"/>
            <a:ext cx="504090" cy="496396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肘形接點 31"/>
          <p:cNvCxnSpPr>
            <a:stCxn id="19" idx="1"/>
            <a:endCxn id="17" idx="2"/>
          </p:cNvCxnSpPr>
          <p:nvPr/>
        </p:nvCxnSpPr>
        <p:spPr>
          <a:xfrm rot="10800000">
            <a:off x="5687155" y="5288570"/>
            <a:ext cx="1132748" cy="360374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肘形接點 33"/>
          <p:cNvCxnSpPr>
            <a:stCxn id="6" idx="3"/>
            <a:endCxn id="37" idx="1"/>
          </p:cNvCxnSpPr>
          <p:nvPr/>
        </p:nvCxnSpPr>
        <p:spPr>
          <a:xfrm flipV="1">
            <a:off x="2198073" y="2129806"/>
            <a:ext cx="212852" cy="2327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肘形接點 35"/>
          <p:cNvCxnSpPr>
            <a:stCxn id="7" idx="2"/>
            <a:endCxn id="10" idx="0"/>
          </p:cNvCxnSpPr>
          <p:nvPr/>
        </p:nvCxnSpPr>
        <p:spPr>
          <a:xfrm rot="5400000">
            <a:off x="3381861" y="3664462"/>
            <a:ext cx="1248294" cy="126737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肘形接點 37"/>
          <p:cNvCxnSpPr>
            <a:stCxn id="10" idx="2"/>
            <a:endCxn id="17" idx="1"/>
          </p:cNvCxnSpPr>
          <p:nvPr/>
        </p:nvCxnSpPr>
        <p:spPr>
          <a:xfrm rot="16200000" flipH="1">
            <a:off x="4254281" y="4348065"/>
            <a:ext cx="474997" cy="1098281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肘形接點 39"/>
          <p:cNvCxnSpPr>
            <a:stCxn id="18" idx="0"/>
            <a:endCxn id="11" idx="3"/>
          </p:cNvCxnSpPr>
          <p:nvPr/>
        </p:nvCxnSpPr>
        <p:spPr>
          <a:xfrm rot="16200000" flipV="1">
            <a:off x="5142186" y="2088695"/>
            <a:ext cx="2365561" cy="2425935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肘形接點 51"/>
          <p:cNvCxnSpPr>
            <a:stCxn id="11" idx="2"/>
            <a:endCxn id="7" idx="3"/>
          </p:cNvCxnSpPr>
          <p:nvPr/>
        </p:nvCxnSpPr>
        <p:spPr>
          <a:xfrm rot="16200000" flipH="1">
            <a:off x="4252152" y="2486358"/>
            <a:ext cx="677071" cy="249848"/>
          </a:xfrm>
          <a:prstGeom prst="bentConnector4">
            <a:avLst>
              <a:gd name="adj1" fmla="val 38637"/>
              <a:gd name="adj2" fmla="val 350147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4862150" y="1169377"/>
            <a:ext cx="8792" cy="502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2368064" y="1154724"/>
            <a:ext cx="8792" cy="502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8326315" y="1169377"/>
            <a:ext cx="8792" cy="502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2748972" y="5513024"/>
            <a:ext cx="1716791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Ready for PROD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61" name="肘形接點 60"/>
          <p:cNvCxnSpPr/>
          <p:nvPr/>
        </p:nvCxnSpPr>
        <p:spPr>
          <a:xfrm>
            <a:off x="4462832" y="5693380"/>
            <a:ext cx="2357071" cy="12700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10151545" y="5513024"/>
            <a:ext cx="1716794" cy="307731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Closed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8648061" y="6198577"/>
            <a:ext cx="1400906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CS Verified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肘形接點 77"/>
          <p:cNvCxnSpPr>
            <a:stCxn id="59" idx="2"/>
          </p:cNvCxnSpPr>
          <p:nvPr/>
        </p:nvCxnSpPr>
        <p:spPr>
          <a:xfrm rot="16200000" flipH="1">
            <a:off x="5855277" y="3572846"/>
            <a:ext cx="544876" cy="5040694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肘形接點 79"/>
          <p:cNvCxnSpPr>
            <a:stCxn id="76" idx="3"/>
            <a:endCxn id="75" idx="2"/>
          </p:cNvCxnSpPr>
          <p:nvPr/>
        </p:nvCxnSpPr>
        <p:spPr>
          <a:xfrm flipV="1">
            <a:off x="10048967" y="5820755"/>
            <a:ext cx="960975" cy="531688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10155115" y="4983105"/>
            <a:ext cx="1713033" cy="307731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Duplicated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10155115" y="4462405"/>
            <a:ext cx="1710109" cy="307731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Not a bug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0155115" y="3921745"/>
            <a:ext cx="1710109" cy="307731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Won’t do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0155115" y="3432308"/>
            <a:ext cx="1721834" cy="307731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Can’t reproduce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410925" y="1975940"/>
            <a:ext cx="1292470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>
                <a:solidFill>
                  <a:schemeClr val="tx1"/>
                </a:solidFill>
              </a:rPr>
              <a:t>Quene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9" name="肘形接點 8"/>
          <p:cNvCxnSpPr>
            <a:stCxn id="37" idx="2"/>
            <a:endCxn id="7" idx="0"/>
          </p:cNvCxnSpPr>
          <p:nvPr/>
        </p:nvCxnSpPr>
        <p:spPr>
          <a:xfrm rot="16200000" flipH="1">
            <a:off x="3307128" y="2033703"/>
            <a:ext cx="512281" cy="1012216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5614250" y="3420099"/>
            <a:ext cx="1421431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Ready for QA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8" name="肘形接點 47"/>
          <p:cNvCxnSpPr>
            <a:stCxn id="10" idx="3"/>
            <a:endCxn id="60" idx="1"/>
          </p:cNvCxnSpPr>
          <p:nvPr/>
        </p:nvCxnSpPr>
        <p:spPr>
          <a:xfrm flipV="1">
            <a:off x="4619531" y="3573965"/>
            <a:ext cx="994719" cy="931878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321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5121"/>
          </a:xfrm>
        </p:spPr>
        <p:txBody>
          <a:bodyPr>
            <a:normAutofit/>
          </a:bodyPr>
          <a:lstStyle/>
          <a:p>
            <a:pPr algn="ctr"/>
            <a:r>
              <a:rPr lang="zh-TW" altLang="en-US" sz="3600" dirty="0" smtClean="0"/>
              <a:t>未营运專案（新产品）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67861" y="1195753"/>
            <a:ext cx="10515600" cy="4963625"/>
          </a:xfrm>
        </p:spPr>
        <p:txBody>
          <a:bodyPr/>
          <a:lstStyle/>
          <a:p>
            <a:r>
              <a:rPr lang="en-US" altLang="zh-TW" dirty="0" smtClean="0"/>
              <a:t>QA/ PM              RD                               QA                                CS/ PM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905603" y="1978267"/>
            <a:ext cx="1292470" cy="307731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EVALUTION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3423141" y="2795952"/>
            <a:ext cx="1292470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In progress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65747" y="4351977"/>
            <a:ext cx="1353784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Done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19528" y="1965016"/>
            <a:ext cx="1292470" cy="307731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Reopen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5040920" y="4980839"/>
            <a:ext cx="1292470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</a:t>
            </a:r>
            <a:r>
              <a:rPr lang="en-US" altLang="zh-TW" dirty="0" smtClean="0">
                <a:solidFill>
                  <a:schemeClr val="tx1"/>
                </a:solidFill>
              </a:rPr>
              <a:t>esting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837480" y="4484443"/>
            <a:ext cx="1400906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QAT Verified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819903" y="5495078"/>
            <a:ext cx="1400906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UAT Verified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4" name="肘形接點 23"/>
          <p:cNvCxnSpPr>
            <a:stCxn id="17" idx="0"/>
            <a:endCxn id="60" idx="2"/>
          </p:cNvCxnSpPr>
          <p:nvPr/>
        </p:nvCxnSpPr>
        <p:spPr>
          <a:xfrm rot="5400000" flipH="1" flipV="1">
            <a:off x="5379556" y="4035430"/>
            <a:ext cx="1253009" cy="637811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肘形接點 25"/>
          <p:cNvCxnSpPr>
            <a:stCxn id="19" idx="2"/>
            <a:endCxn id="11" idx="3"/>
          </p:cNvCxnSpPr>
          <p:nvPr/>
        </p:nvCxnSpPr>
        <p:spPr>
          <a:xfrm rot="5400000" flipH="1">
            <a:off x="4474213" y="2756667"/>
            <a:ext cx="3683927" cy="2408358"/>
          </a:xfrm>
          <a:prstGeom prst="bentConnector4">
            <a:avLst>
              <a:gd name="adj1" fmla="val -6205"/>
              <a:gd name="adj2" fmla="val 64542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肘形接點 27"/>
          <p:cNvCxnSpPr/>
          <p:nvPr/>
        </p:nvCxnSpPr>
        <p:spPr>
          <a:xfrm rot="16200000" flipH="1">
            <a:off x="7285341" y="5145761"/>
            <a:ext cx="681041" cy="5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肘形接點 29"/>
          <p:cNvCxnSpPr>
            <a:stCxn id="17" idx="3"/>
            <a:endCxn id="18" idx="1"/>
          </p:cNvCxnSpPr>
          <p:nvPr/>
        </p:nvCxnSpPr>
        <p:spPr>
          <a:xfrm flipV="1">
            <a:off x="6333390" y="4638309"/>
            <a:ext cx="504090" cy="496396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肘形接點 31"/>
          <p:cNvCxnSpPr>
            <a:stCxn id="19" idx="1"/>
            <a:endCxn id="17" idx="2"/>
          </p:cNvCxnSpPr>
          <p:nvPr/>
        </p:nvCxnSpPr>
        <p:spPr>
          <a:xfrm rot="10800000">
            <a:off x="5687155" y="5288570"/>
            <a:ext cx="1132748" cy="360374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肘形接點 33"/>
          <p:cNvCxnSpPr>
            <a:stCxn id="6" idx="3"/>
            <a:endCxn id="37" idx="1"/>
          </p:cNvCxnSpPr>
          <p:nvPr/>
        </p:nvCxnSpPr>
        <p:spPr>
          <a:xfrm flipV="1">
            <a:off x="2198073" y="2129806"/>
            <a:ext cx="212852" cy="2327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肘形接點 35"/>
          <p:cNvCxnSpPr>
            <a:stCxn id="7" idx="2"/>
            <a:endCxn id="10" idx="0"/>
          </p:cNvCxnSpPr>
          <p:nvPr/>
        </p:nvCxnSpPr>
        <p:spPr>
          <a:xfrm rot="5400000">
            <a:off x="3381861" y="3664462"/>
            <a:ext cx="1248294" cy="126737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肘形接點 37"/>
          <p:cNvCxnSpPr>
            <a:stCxn id="10" idx="2"/>
            <a:endCxn id="17" idx="1"/>
          </p:cNvCxnSpPr>
          <p:nvPr/>
        </p:nvCxnSpPr>
        <p:spPr>
          <a:xfrm rot="16200000" flipH="1">
            <a:off x="4254281" y="4348065"/>
            <a:ext cx="474997" cy="1098281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肘形接點 39"/>
          <p:cNvCxnSpPr>
            <a:stCxn id="18" idx="0"/>
            <a:endCxn id="11" idx="3"/>
          </p:cNvCxnSpPr>
          <p:nvPr/>
        </p:nvCxnSpPr>
        <p:spPr>
          <a:xfrm rot="16200000" flipV="1">
            <a:off x="5142186" y="2088695"/>
            <a:ext cx="2365561" cy="2425935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肘形接點 51"/>
          <p:cNvCxnSpPr>
            <a:stCxn id="11" idx="2"/>
            <a:endCxn id="7" idx="3"/>
          </p:cNvCxnSpPr>
          <p:nvPr/>
        </p:nvCxnSpPr>
        <p:spPr>
          <a:xfrm rot="16200000" flipH="1">
            <a:off x="4252152" y="2486358"/>
            <a:ext cx="677071" cy="249848"/>
          </a:xfrm>
          <a:prstGeom prst="bentConnector4">
            <a:avLst>
              <a:gd name="adj1" fmla="val 38637"/>
              <a:gd name="adj2" fmla="val 350147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4862150" y="1169377"/>
            <a:ext cx="8792" cy="502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2368064" y="1154724"/>
            <a:ext cx="8792" cy="502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8326315" y="1169377"/>
            <a:ext cx="8792" cy="502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10151545" y="5513024"/>
            <a:ext cx="1716794" cy="307731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Closed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80" name="肘形接點 79"/>
          <p:cNvCxnSpPr>
            <a:stCxn id="19" idx="3"/>
            <a:endCxn id="75" idx="1"/>
          </p:cNvCxnSpPr>
          <p:nvPr/>
        </p:nvCxnSpPr>
        <p:spPr>
          <a:xfrm>
            <a:off x="8220809" y="5648944"/>
            <a:ext cx="1930736" cy="17946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10155115" y="4983105"/>
            <a:ext cx="1713033" cy="307731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Duplicated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10155115" y="4462405"/>
            <a:ext cx="1710109" cy="307731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Not a bug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0155115" y="3921745"/>
            <a:ext cx="1710109" cy="307731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Won’t do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0155115" y="3432308"/>
            <a:ext cx="1721834" cy="307731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Can’t reproduce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410925" y="1975940"/>
            <a:ext cx="1292470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>
                <a:solidFill>
                  <a:schemeClr val="tx1"/>
                </a:solidFill>
              </a:rPr>
              <a:t>Quene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9" name="肘形接點 8"/>
          <p:cNvCxnSpPr>
            <a:stCxn id="37" idx="2"/>
            <a:endCxn id="7" idx="0"/>
          </p:cNvCxnSpPr>
          <p:nvPr/>
        </p:nvCxnSpPr>
        <p:spPr>
          <a:xfrm rot="16200000" flipH="1">
            <a:off x="3307128" y="2033703"/>
            <a:ext cx="512281" cy="1012216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5614250" y="3420099"/>
            <a:ext cx="1421431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Ready for QA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8" name="肘形接點 47"/>
          <p:cNvCxnSpPr>
            <a:stCxn id="10" idx="3"/>
            <a:endCxn id="60" idx="1"/>
          </p:cNvCxnSpPr>
          <p:nvPr/>
        </p:nvCxnSpPr>
        <p:spPr>
          <a:xfrm flipV="1">
            <a:off x="4619531" y="3573965"/>
            <a:ext cx="994719" cy="931878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2472470" y="3528095"/>
            <a:ext cx="1292470" cy="3077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Waiting API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2" name="肘形接點 41"/>
          <p:cNvCxnSpPr/>
          <p:nvPr/>
        </p:nvCxnSpPr>
        <p:spPr>
          <a:xfrm rot="5400000" flipH="1" flipV="1">
            <a:off x="3135699" y="3159597"/>
            <a:ext cx="390250" cy="331174"/>
          </a:xfrm>
          <a:prstGeom prst="bent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肘形接點 42"/>
          <p:cNvCxnSpPr>
            <a:stCxn id="41" idx="2"/>
          </p:cNvCxnSpPr>
          <p:nvPr/>
        </p:nvCxnSpPr>
        <p:spPr>
          <a:xfrm rot="16200000" flipH="1">
            <a:off x="2857218" y="4097313"/>
            <a:ext cx="670017" cy="147042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275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
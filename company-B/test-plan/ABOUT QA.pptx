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16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61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05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9167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20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141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363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17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283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95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1223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365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5605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4933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972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228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EA9B5-C8FB-4D62-8043-981FA2B21963}" type="datetimeFigureOut">
              <a:rPr lang="zh-TW" altLang="en-US" smtClean="0"/>
              <a:t>2018/1/17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1DA9FC-1E09-4CB3-A672-7570BFB6E8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938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interna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internal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05254" y="2875084"/>
            <a:ext cx="9144000" cy="1116623"/>
          </a:xfrm>
        </p:spPr>
        <p:txBody>
          <a:bodyPr/>
          <a:lstStyle/>
          <a:p>
            <a:pPr algn="ctr"/>
            <a:r>
              <a:rPr lang="en-US" altLang="zh-TW" sz="7200" b="1" dirty="0" smtClean="0">
                <a:solidFill>
                  <a:srgbClr val="0070C0"/>
                </a:solidFill>
              </a:rPr>
              <a:t>ABOUT</a:t>
            </a:r>
            <a:r>
              <a:rPr lang="zh-TW" altLang="en-US" sz="7200" b="1" dirty="0" smtClean="0">
                <a:solidFill>
                  <a:srgbClr val="0070C0"/>
                </a:solidFill>
              </a:rPr>
              <a:t> </a:t>
            </a:r>
            <a:r>
              <a:rPr lang="en-US" altLang="zh-TW" sz="7200" b="1" dirty="0" smtClean="0">
                <a:solidFill>
                  <a:srgbClr val="0070C0"/>
                </a:solidFill>
              </a:rPr>
              <a:t>QA</a:t>
            </a:r>
            <a:endParaRPr lang="zh-TW" altLang="en-US" sz="7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1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Autofit/>
          </a:bodyPr>
          <a:lstStyle/>
          <a:p>
            <a:pPr algn="ctr"/>
            <a:r>
              <a:rPr lang="en-US" altLang="zh-TW" sz="4800" dirty="0" smtClean="0">
                <a:solidFill>
                  <a:srgbClr val="0070C0"/>
                </a:solidFill>
              </a:rPr>
              <a:t>About test</a:t>
            </a:r>
            <a:endParaRPr lang="zh-TW" altLang="en-US" sz="4800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837593"/>
            <a:ext cx="8596668" cy="420377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3600" dirty="0" smtClean="0">
                <a:solidFill>
                  <a:srgbClr val="FF0000"/>
                </a:solidFill>
              </a:rPr>
              <a:t>By format </a:t>
            </a:r>
          </a:p>
          <a:p>
            <a:pPr marL="0" indent="0">
              <a:buNone/>
            </a:pPr>
            <a:r>
              <a:rPr lang="en-US" altLang="zh-TW" sz="3600" dirty="0"/>
              <a:t>1. Test plan</a:t>
            </a:r>
          </a:p>
          <a:p>
            <a:pPr marL="0" indent="0">
              <a:buNone/>
            </a:pPr>
            <a:r>
              <a:rPr lang="en-US" altLang="zh-TW" sz="3600" dirty="0"/>
              <a:t>2. Test case</a:t>
            </a:r>
          </a:p>
          <a:p>
            <a:pPr marL="0" indent="0">
              <a:buNone/>
            </a:pPr>
            <a:r>
              <a:rPr lang="en-US" altLang="zh-TW" sz="3600" dirty="0"/>
              <a:t>3. Test </a:t>
            </a:r>
            <a:r>
              <a:rPr lang="en-US" altLang="zh-TW" sz="3600" dirty="0" smtClean="0"/>
              <a:t>report</a:t>
            </a:r>
          </a:p>
          <a:p>
            <a:r>
              <a:rPr lang="en-US" altLang="zh-TW" sz="3600" dirty="0" smtClean="0">
                <a:solidFill>
                  <a:srgbClr val="FF0000"/>
                </a:solidFill>
              </a:rPr>
              <a:t>By style</a:t>
            </a:r>
          </a:p>
          <a:p>
            <a:pPr marL="0" indent="0">
              <a:buNone/>
            </a:pPr>
            <a:r>
              <a:rPr lang="en-US" altLang="zh-TW" sz="3600" dirty="0" smtClean="0"/>
              <a:t>1. Manual</a:t>
            </a:r>
          </a:p>
          <a:p>
            <a:pPr marL="0" indent="0">
              <a:buNone/>
            </a:pPr>
            <a:r>
              <a:rPr lang="en-US" altLang="zh-TW" sz="3600" dirty="0" smtClean="0"/>
              <a:t>2. Automation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767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62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solidFill>
                  <a:srgbClr val="0070C0"/>
                </a:solidFill>
              </a:rPr>
              <a:t>Demo case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521069"/>
            <a:ext cx="8596668" cy="452029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hlinkClick r:id="rId2"/>
              </a:rPr>
              <a:t>https</a:t>
            </a:r>
            <a:r>
              <a:rPr lang="en-US" altLang="zh-TW" dirty="0">
                <a:hlinkClick r:id="rId2"/>
              </a:rPr>
              <a:t>://</a:t>
            </a:r>
            <a:r>
              <a:rPr lang="en-US" altLang="zh-TW" dirty="0" smtClean="0">
                <a:hlinkClick r:id="rId2"/>
              </a:rPr>
              <a:t>example.internal/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sz="2400" dirty="0" smtClean="0">
                <a:solidFill>
                  <a:srgbClr val="0070C0"/>
                </a:solidFill>
              </a:rPr>
              <a:t>1. Test Plan</a:t>
            </a:r>
          </a:p>
          <a:p>
            <a:endParaRPr lang="en-US" altLang="zh-TW" sz="2400" dirty="0" smtClean="0">
              <a:solidFill>
                <a:srgbClr val="0070C0"/>
              </a:solidFill>
            </a:endParaRPr>
          </a:p>
          <a:p>
            <a:r>
              <a:rPr lang="en-US" altLang="zh-TW" sz="2400" dirty="0" smtClean="0">
                <a:solidFill>
                  <a:srgbClr val="0070C0"/>
                </a:solidFill>
              </a:rPr>
              <a:t>2. Test Case</a:t>
            </a:r>
          </a:p>
          <a:p>
            <a:pPr marL="0" indent="0">
              <a:buNone/>
            </a:pPr>
            <a:endParaRPr lang="en-US" altLang="zh-TW" sz="2400" dirty="0" smtClean="0">
              <a:solidFill>
                <a:srgbClr val="0070C0"/>
              </a:solidFill>
            </a:endParaRPr>
          </a:p>
          <a:p>
            <a:r>
              <a:rPr lang="en-US" altLang="zh-TW" sz="2400" dirty="0" smtClean="0">
                <a:solidFill>
                  <a:srgbClr val="0070C0"/>
                </a:solidFill>
              </a:rPr>
              <a:t>3. Test Data</a:t>
            </a:r>
          </a:p>
        </p:txBody>
      </p:sp>
    </p:spTree>
    <p:extLst>
      <p:ext uri="{BB962C8B-B14F-4D97-AF65-F5344CB8AC3E}">
        <p14:creationId xmlns:p14="http://schemas.microsoft.com/office/powerpoint/2010/main" val="62806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647701"/>
          </a:xfrm>
        </p:spPr>
        <p:txBody>
          <a:bodyPr>
            <a:noAutofit/>
          </a:bodyPr>
          <a:lstStyle/>
          <a:p>
            <a:pPr algn="ctr"/>
            <a:r>
              <a:rPr lang="en-US" altLang="zh-TW" sz="4000" b="1" dirty="0">
                <a:solidFill>
                  <a:srgbClr val="0070C0"/>
                </a:solidFill>
              </a:rPr>
              <a:t>Q</a:t>
            </a:r>
            <a:r>
              <a:rPr lang="en-US" altLang="zh-TW" sz="4000" b="1" dirty="0" smtClean="0">
                <a:solidFill>
                  <a:srgbClr val="0070C0"/>
                </a:solidFill>
              </a:rPr>
              <a:t>uestion</a:t>
            </a:r>
            <a:endParaRPr lang="zh-TW" alt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477109"/>
            <a:ext cx="8596668" cy="4564254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1.</a:t>
            </a:r>
            <a:r>
              <a:rPr lang="zh-TW" altLang="en-US" sz="2400" dirty="0" smtClean="0"/>
              <a:t> </a:t>
            </a:r>
            <a:r>
              <a:rPr lang="en-US" altLang="zh-TW" sz="2400" dirty="0"/>
              <a:t>T</a:t>
            </a:r>
            <a:r>
              <a:rPr lang="en-US" altLang="zh-TW" sz="2400" dirty="0" smtClean="0"/>
              <a:t>est report = Test case</a:t>
            </a:r>
          </a:p>
          <a:p>
            <a:pPr marL="0" indent="0">
              <a:buNone/>
            </a:pPr>
            <a:endParaRPr lang="en-US" altLang="zh-TW" sz="2400" dirty="0" smtClean="0"/>
          </a:p>
          <a:p>
            <a:r>
              <a:rPr lang="en-US" altLang="zh-TW" sz="2400" dirty="0" smtClean="0"/>
              <a:t>2. Test case </a:t>
            </a:r>
            <a:r>
              <a:rPr lang="zh-TW" altLang="en-US" sz="2400" dirty="0" smtClean="0"/>
              <a:t>覆蓋狀況不夠多</a:t>
            </a:r>
            <a:endParaRPr lang="en-US" altLang="zh-TW" sz="2400" dirty="0" smtClean="0"/>
          </a:p>
          <a:p>
            <a:pPr marL="0" indent="0">
              <a:buNone/>
            </a:pPr>
            <a:endParaRPr lang="en-US" altLang="zh-TW" sz="2400" dirty="0" smtClean="0"/>
          </a:p>
          <a:p>
            <a:r>
              <a:rPr lang="en-US" altLang="zh-TW" sz="2400" dirty="0" smtClean="0"/>
              <a:t>3.</a:t>
            </a:r>
            <a:r>
              <a:rPr lang="zh-TW" altLang="en-US" sz="2400" dirty="0" smtClean="0"/>
              <a:t> 測試</a:t>
            </a:r>
            <a:r>
              <a:rPr lang="en-US" altLang="zh-TW" sz="2400" dirty="0" smtClean="0"/>
              <a:t>loading </a:t>
            </a:r>
            <a:r>
              <a:rPr lang="zh-TW" altLang="en-US" sz="2400" dirty="0" smtClean="0"/>
              <a:t>過重</a:t>
            </a: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289853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b="1" dirty="0">
                <a:solidFill>
                  <a:srgbClr val="0070C0"/>
                </a:solidFill>
              </a:rPr>
              <a:t>S</a:t>
            </a:r>
            <a:r>
              <a:rPr lang="en-US" altLang="zh-TW" sz="4000" b="1" dirty="0" smtClean="0">
                <a:solidFill>
                  <a:srgbClr val="0070C0"/>
                </a:solidFill>
              </a:rPr>
              <a:t>olution</a:t>
            </a:r>
            <a:endParaRPr lang="zh-TW" alt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617785"/>
            <a:ext cx="8596668" cy="4423577"/>
          </a:xfrm>
        </p:spPr>
        <p:txBody>
          <a:bodyPr/>
          <a:lstStyle/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jira</a:t>
            </a:r>
            <a:r>
              <a:rPr lang="en-US" altLang="zh-TW" dirty="0" smtClean="0"/>
              <a:t> </a:t>
            </a:r>
            <a:r>
              <a:rPr lang="zh-TW" altLang="en-US" dirty="0" smtClean="0"/>
              <a:t>開單方式調整 </a:t>
            </a:r>
            <a:r>
              <a:rPr lang="en-US" altLang="zh-TW" dirty="0" smtClean="0"/>
              <a:t>- </a:t>
            </a:r>
            <a:r>
              <a:rPr lang="zh-TW" altLang="en-US" dirty="0" smtClean="0"/>
              <a:t>標題</a:t>
            </a:r>
            <a:r>
              <a:rPr lang="en-US" altLang="zh-TW" dirty="0" smtClean="0"/>
              <a:t>/</a:t>
            </a:r>
            <a:r>
              <a:rPr lang="zh-TW" altLang="en-US" dirty="0" smtClean="0"/>
              <a:t>內文</a:t>
            </a:r>
            <a:r>
              <a:rPr lang="en-US" altLang="zh-TW" dirty="0" smtClean="0"/>
              <a:t>/</a:t>
            </a:r>
            <a:r>
              <a:rPr lang="zh-TW" altLang="en-US" dirty="0" smtClean="0"/>
              <a:t>圖片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 </a:t>
            </a:r>
            <a:r>
              <a:rPr lang="en-US" altLang="zh-TW" dirty="0" smtClean="0"/>
              <a:t>Test plan &gt; Test case - </a:t>
            </a:r>
            <a:r>
              <a:rPr lang="zh-TW" altLang="en-US" dirty="0" smtClean="0"/>
              <a:t>搶時間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3. </a:t>
            </a:r>
            <a:r>
              <a:rPr lang="zh-TW" altLang="en-US" dirty="0" smtClean="0"/>
              <a:t>與</a:t>
            </a:r>
            <a:r>
              <a:rPr lang="en-US" altLang="zh-TW" dirty="0" smtClean="0"/>
              <a:t>pm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meeting – </a:t>
            </a:r>
            <a:r>
              <a:rPr lang="zh-TW" altLang="en-US" dirty="0" smtClean="0"/>
              <a:t>流程確認</a:t>
            </a:r>
            <a:r>
              <a:rPr lang="en-US" altLang="zh-TW" dirty="0" smtClean="0"/>
              <a:t>/</a:t>
            </a:r>
            <a:r>
              <a:rPr lang="zh-TW" altLang="en-US" dirty="0" smtClean="0"/>
              <a:t>特殊案例探討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4.</a:t>
            </a:r>
            <a:r>
              <a:rPr lang="zh-TW" altLang="en-US" dirty="0" smtClean="0"/>
              <a:t> </a:t>
            </a:r>
            <a:r>
              <a:rPr lang="en-US" altLang="zh-TW" dirty="0" smtClean="0"/>
              <a:t>Test report – </a:t>
            </a:r>
            <a:r>
              <a:rPr lang="en-US" altLang="zh-TW" dirty="0" err="1" smtClean="0"/>
              <a:t>jira</a:t>
            </a:r>
            <a:r>
              <a:rPr lang="en-US" altLang="zh-TW" dirty="0" smtClean="0"/>
              <a:t> </a:t>
            </a:r>
            <a:r>
              <a:rPr lang="zh-TW" altLang="en-US" dirty="0" smtClean="0"/>
              <a:t>彙總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194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solidFill>
                  <a:srgbClr val="0070C0"/>
                </a:solidFill>
              </a:rPr>
              <a:t>Real case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617785"/>
            <a:ext cx="8596668" cy="4423577"/>
          </a:xfrm>
        </p:spPr>
        <p:txBody>
          <a:bodyPr/>
          <a:lstStyle/>
          <a:p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example.internal/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920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700454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70C0"/>
                </a:solidFill>
              </a:rPr>
              <a:t>流程圖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1450729" y="1837591"/>
            <a:ext cx="1371600" cy="501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PM</a:t>
            </a:r>
          </a:p>
        </p:txBody>
      </p:sp>
      <p:sp>
        <p:nvSpPr>
          <p:cNvPr id="5" name="圓角矩形 4"/>
          <p:cNvSpPr/>
          <p:nvPr/>
        </p:nvSpPr>
        <p:spPr>
          <a:xfrm>
            <a:off x="4104541" y="1848582"/>
            <a:ext cx="1371600" cy="501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</a:p>
        </p:txBody>
      </p:sp>
      <p:sp>
        <p:nvSpPr>
          <p:cNvPr id="6" name="圓角矩形 5"/>
          <p:cNvSpPr/>
          <p:nvPr/>
        </p:nvSpPr>
        <p:spPr>
          <a:xfrm>
            <a:off x="6907821" y="1881553"/>
            <a:ext cx="1371600" cy="501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QA</a:t>
            </a:r>
          </a:p>
        </p:txBody>
      </p:sp>
      <p:sp>
        <p:nvSpPr>
          <p:cNvPr id="7" name="向右箭號 6"/>
          <p:cNvSpPr/>
          <p:nvPr/>
        </p:nvSpPr>
        <p:spPr>
          <a:xfrm>
            <a:off x="3089762" y="2059598"/>
            <a:ext cx="747346" cy="145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5818308" y="2059598"/>
            <a:ext cx="747346" cy="145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837108" y="4457699"/>
            <a:ext cx="1326905" cy="1301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PM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312215" y="3635619"/>
            <a:ext cx="1326905" cy="1301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RD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790341" y="4462093"/>
            <a:ext cx="1326905" cy="1301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QA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2558562" y="1310055"/>
            <a:ext cx="1679330" cy="448407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灰色地帶</a:t>
            </a:r>
            <a:endParaRPr lang="zh-TW" altLang="en-US" dirty="0"/>
          </a:p>
        </p:txBody>
      </p:sp>
      <p:sp>
        <p:nvSpPr>
          <p:cNvPr id="14" name="橢圓 13"/>
          <p:cNvSpPr/>
          <p:nvPr/>
        </p:nvSpPr>
        <p:spPr>
          <a:xfrm>
            <a:off x="2558562" y="2505807"/>
            <a:ext cx="1679330" cy="448407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灰色地帶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5524499" y="1310056"/>
            <a:ext cx="1679330" cy="448407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灰色地帶</a:t>
            </a:r>
            <a:endParaRPr lang="zh-TW" altLang="en-US" dirty="0"/>
          </a:p>
        </p:txBody>
      </p:sp>
      <p:sp>
        <p:nvSpPr>
          <p:cNvPr id="16" name="橢圓 15"/>
          <p:cNvSpPr/>
          <p:nvPr/>
        </p:nvSpPr>
        <p:spPr>
          <a:xfrm>
            <a:off x="5524499" y="2505805"/>
            <a:ext cx="1679330" cy="448407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灰色地帶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248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685801"/>
            <a:ext cx="8596668" cy="53555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TW" sz="7200" dirty="0"/>
          </a:p>
          <a:p>
            <a:pPr marL="0" indent="0" algn="ctr">
              <a:buNone/>
            </a:pPr>
            <a:endParaRPr lang="en-US" altLang="zh-TW" sz="7200" dirty="0" smtClean="0"/>
          </a:p>
          <a:p>
            <a:pPr marL="0" indent="0" algn="ctr">
              <a:buNone/>
            </a:pPr>
            <a:r>
              <a:rPr lang="en-US" altLang="zh-TW" sz="7200" dirty="0" smtClean="0">
                <a:solidFill>
                  <a:srgbClr val="0070C0"/>
                </a:solidFill>
              </a:rPr>
              <a:t>THE END ~</a:t>
            </a:r>
            <a:endParaRPr lang="zh-TW" altLang="en-US" sz="7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17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
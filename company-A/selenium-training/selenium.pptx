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0" r:id="rId3"/>
    <p:sldId id="261" r:id="rId4"/>
    <p:sldId id="257" r:id="rId5"/>
    <p:sldId id="258" r:id="rId6"/>
    <p:sldId id="267" r:id="rId7"/>
    <p:sldId id="262" r:id="rId8"/>
    <p:sldId id="263" r:id="rId9"/>
    <p:sldId id="264" r:id="rId10"/>
    <p:sldId id="266" r:id="rId11"/>
    <p:sldId id="259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7" autoAdjust="0"/>
    <p:restoredTop sz="94660"/>
  </p:normalViewPr>
  <p:slideViewPr>
    <p:cSldViewPr snapToGrid="0">
      <p:cViewPr varScale="1">
        <p:scale>
          <a:sx n="46" d="100"/>
          <a:sy n="46" d="100"/>
        </p:scale>
        <p:origin x="-528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12/17/2014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12/17/2014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12/17/2014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12/17/2014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143633" y="4196642"/>
            <a:ext cx="5675872" cy="1053878"/>
          </a:xfrm>
        </p:spPr>
        <p:txBody>
          <a:bodyPr>
            <a:noAutofit/>
          </a:bodyPr>
          <a:lstStyle/>
          <a:p>
            <a:r>
              <a:rPr lang="en-US" altLang="zh-TW" sz="6000" b="1" dirty="0" smtClean="0">
                <a:solidFill>
                  <a:srgbClr val="0070C0"/>
                </a:solidFill>
              </a:rPr>
              <a:t>Selenium IDE</a:t>
            </a:r>
            <a:endParaRPr lang="zh-TW" altLang="en-US" sz="6000" b="1" dirty="0">
              <a:solidFill>
                <a:srgbClr val="0070C0"/>
              </a:solidFill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9597081" y="1977081"/>
            <a:ext cx="16805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 err="1" smtClean="0"/>
              <a:t>Presentby</a:t>
            </a:r>
            <a:r>
              <a:rPr lang="en-US" altLang="zh-TW" sz="3200" dirty="0" smtClean="0"/>
              <a:t> Jay</a:t>
            </a:r>
            <a:endParaRPr lang="zh-TW" altLang="en-US" sz="3200" dirty="0"/>
          </a:p>
        </p:txBody>
      </p:sp>
      <p:sp>
        <p:nvSpPr>
          <p:cNvPr id="5" name="矩形 4"/>
          <p:cNvSpPr/>
          <p:nvPr/>
        </p:nvSpPr>
        <p:spPr>
          <a:xfrm>
            <a:off x="671969" y="290038"/>
            <a:ext cx="106150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dirty="0" smtClean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FFN</a:t>
            </a:r>
            <a:endParaRPr lang="zh-TW" altLang="en-US" sz="4000" cap="none" spc="0" dirty="0">
              <a:ln w="0"/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6996" y="4057834"/>
            <a:ext cx="1471264" cy="1331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486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318879" y="449055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en-US" altLang="zh-TW" sz="6000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What is selenium?</a:t>
            </a:r>
            <a:endParaRPr lang="zh-TW" altLang="en-US" sz="6000" i="1" dirty="0">
              <a:latin typeface="Verdana" pitchFamily="34" charset="0"/>
              <a:cs typeface="Verdana" pitchFamily="34" charset="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6720" y="1482810"/>
            <a:ext cx="3377512" cy="2026507"/>
          </a:xfrm>
          <a:prstGeom prst="rect">
            <a:avLst/>
          </a:prstGeom>
        </p:spPr>
      </p:pic>
      <p:pic>
        <p:nvPicPr>
          <p:cNvPr id="5" name="內容版面配置區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3438" y="3509317"/>
            <a:ext cx="1379281" cy="1379281"/>
          </a:xfrm>
          <a:prstGeom prst="rect">
            <a:avLst/>
          </a:prstGeom>
        </p:spPr>
      </p:pic>
      <p:sp>
        <p:nvSpPr>
          <p:cNvPr id="6" name="向右箭號 5"/>
          <p:cNvSpPr/>
          <p:nvPr/>
        </p:nvSpPr>
        <p:spPr>
          <a:xfrm>
            <a:off x="5441087" y="2261270"/>
            <a:ext cx="823783" cy="3871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向右箭號 6"/>
          <p:cNvSpPr/>
          <p:nvPr/>
        </p:nvSpPr>
        <p:spPr>
          <a:xfrm rot="10800000">
            <a:off x="5362832" y="4059541"/>
            <a:ext cx="823783" cy="390596"/>
          </a:xfrm>
          <a:prstGeom prst="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向右箭號 7"/>
          <p:cNvSpPr/>
          <p:nvPr/>
        </p:nvSpPr>
        <p:spPr>
          <a:xfrm>
            <a:off x="5441088" y="5614082"/>
            <a:ext cx="823783" cy="3871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1756720" y="3892378"/>
            <a:ext cx="33775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 smtClean="0"/>
              <a:t>Selenium IDE</a:t>
            </a:r>
            <a:endParaRPr lang="zh-TW" altLang="en-US" sz="4000" dirty="0"/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9751" y="5220951"/>
            <a:ext cx="1955725" cy="1173435"/>
          </a:xfrm>
          <a:prstGeom prst="rect">
            <a:avLst/>
          </a:prstGeom>
        </p:spPr>
      </p:pic>
      <p:pic>
        <p:nvPicPr>
          <p:cNvPr id="11" name="內容版面配置區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2974" y="4983128"/>
            <a:ext cx="1411258" cy="1411258"/>
          </a:xfrm>
          <a:prstGeom prst="rect">
            <a:avLst/>
          </a:prstGeom>
        </p:spPr>
      </p:pic>
      <p:sp>
        <p:nvSpPr>
          <p:cNvPr id="14" name="文字方塊 13"/>
          <p:cNvSpPr txBox="1"/>
          <p:nvPr/>
        </p:nvSpPr>
        <p:spPr>
          <a:xfrm>
            <a:off x="6530545" y="2100916"/>
            <a:ext cx="38429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/>
              <a:t>Selenium </a:t>
            </a:r>
            <a:r>
              <a:rPr lang="en-US" altLang="zh-TW" sz="4000" dirty="0" smtClean="0"/>
              <a:t>RC</a:t>
            </a:r>
            <a:endParaRPr lang="en-US" altLang="zh-TW" sz="4000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6685004" y="5543669"/>
            <a:ext cx="35340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 err="1" smtClean="0"/>
              <a:t>WebDriver</a:t>
            </a:r>
            <a:endParaRPr lang="zh-TW" altLang="en-US" sz="4000" dirty="0"/>
          </a:p>
        </p:txBody>
      </p:sp>
    </p:spTree>
    <p:extLst>
      <p:ext uri="{BB962C8B-B14F-4D97-AF65-F5344CB8AC3E}">
        <p14:creationId xmlns:p14="http://schemas.microsoft.com/office/powerpoint/2010/main" val="813607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7" grpId="0" animBg="1"/>
      <p:bldP spid="8" grpId="0" animBg="1"/>
      <p:bldP spid="9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810331" y="484066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en-US" altLang="zh-TW" sz="6000" dirty="0">
                <a:solidFill>
                  <a:schemeClr val="tx1"/>
                </a:solidFill>
              </a:rPr>
              <a:t>Selenium </a:t>
            </a:r>
            <a:r>
              <a:rPr lang="en-US" altLang="zh-TW" sz="6000" dirty="0" smtClean="0">
                <a:solidFill>
                  <a:schemeClr val="tx1"/>
                </a:solidFill>
              </a:rPr>
              <a:t>IDE</a:t>
            </a:r>
            <a:endParaRPr lang="zh-TW" altLang="en-US" sz="6000" dirty="0">
              <a:solidFill>
                <a:schemeClr val="tx1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16002" y="1680519"/>
            <a:ext cx="8915400" cy="3777622"/>
          </a:xfrm>
        </p:spPr>
        <p:txBody>
          <a:bodyPr>
            <a:normAutofit/>
          </a:bodyPr>
          <a:lstStyle/>
          <a:p>
            <a:r>
              <a:rPr lang="en-US" altLang="zh-TW" sz="3500" dirty="0" smtClean="0">
                <a:solidFill>
                  <a:schemeClr val="tx1"/>
                </a:solidFill>
              </a:rPr>
              <a:t>Firefox plugin</a:t>
            </a:r>
          </a:p>
          <a:p>
            <a:r>
              <a:rPr lang="en-US" altLang="zh-TW" sz="3500" dirty="0">
                <a:solidFill>
                  <a:schemeClr val="tx1"/>
                </a:solidFill>
              </a:rPr>
              <a:t>UI </a:t>
            </a:r>
            <a:r>
              <a:rPr lang="en-US" altLang="zh-TW" sz="3500" dirty="0" smtClean="0">
                <a:solidFill>
                  <a:schemeClr val="tx1"/>
                </a:solidFill>
              </a:rPr>
              <a:t>design</a:t>
            </a:r>
            <a:endParaRPr lang="en-US" altLang="zh-TW" sz="3500" dirty="0">
              <a:solidFill>
                <a:schemeClr val="tx1"/>
              </a:solidFill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8062" y="1764956"/>
            <a:ext cx="3509002" cy="4561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925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69143" y="585580"/>
            <a:ext cx="6378079" cy="1221166"/>
          </a:xfrm>
        </p:spPr>
        <p:txBody>
          <a:bodyPr>
            <a:noAutofit/>
          </a:bodyPr>
          <a:lstStyle/>
          <a:p>
            <a:r>
              <a:rPr lang="en-US" altLang="zh-TW" sz="4000" b="1" i="1" dirty="0" smtClean="0">
                <a:solidFill>
                  <a:srgbClr val="FF0000"/>
                </a:solidFill>
              </a:rPr>
              <a:t>Advantage</a:t>
            </a:r>
            <a:endParaRPr lang="zh-TW" altLang="en-US" sz="4000" b="1" i="1" dirty="0">
              <a:solidFill>
                <a:srgbClr val="FF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1769143" y="1723768"/>
            <a:ext cx="358346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zh-TW" sz="2400" dirty="0" smtClean="0"/>
              <a:t>Simple </a:t>
            </a:r>
            <a:endParaRPr lang="en-US" altLang="zh-TW" sz="2400" dirty="0"/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/>
              <a:t>Automatic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/>
              <a:t>Format conversion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/>
              <a:t>Extension</a:t>
            </a:r>
          </a:p>
          <a:p>
            <a:endParaRPr lang="zh-TW" altLang="en-US" dirty="0"/>
          </a:p>
        </p:txBody>
      </p:sp>
      <p:pic>
        <p:nvPicPr>
          <p:cNvPr id="16" name="圖片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9143" y="4129973"/>
            <a:ext cx="2133600" cy="2133600"/>
          </a:xfrm>
          <a:prstGeom prst="rect">
            <a:avLst/>
          </a:prstGeom>
        </p:spPr>
      </p:pic>
      <p:pic>
        <p:nvPicPr>
          <p:cNvPr id="17" name="圖片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1155" y="2250989"/>
            <a:ext cx="5257800" cy="1701800"/>
          </a:xfrm>
          <a:prstGeom prst="rect">
            <a:avLst/>
          </a:prstGeom>
        </p:spPr>
      </p:pic>
      <p:pic>
        <p:nvPicPr>
          <p:cNvPr id="19" name="圖片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1155" y="4644323"/>
            <a:ext cx="5238750" cy="1619250"/>
          </a:xfrm>
          <a:prstGeom prst="rect">
            <a:avLst/>
          </a:prstGeom>
        </p:spPr>
      </p:pic>
      <p:pic>
        <p:nvPicPr>
          <p:cNvPr id="20" name="圖片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9539" y="4708615"/>
            <a:ext cx="1733550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994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03238" y="615872"/>
            <a:ext cx="4401000" cy="932841"/>
          </a:xfrm>
        </p:spPr>
        <p:txBody>
          <a:bodyPr>
            <a:normAutofit/>
          </a:bodyPr>
          <a:lstStyle/>
          <a:p>
            <a:r>
              <a:rPr lang="en-US" altLang="zh-TW" sz="4000" b="1" i="1" dirty="0" smtClean="0">
                <a:solidFill>
                  <a:srgbClr val="0070C0"/>
                </a:solidFill>
              </a:rPr>
              <a:t>Disadvantage</a:t>
            </a:r>
            <a:endParaRPr lang="zh-TW" altLang="en-US" sz="4000" b="1" i="1" dirty="0">
              <a:solidFill>
                <a:srgbClr val="0070C0"/>
              </a:solidFill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398" y="1548713"/>
            <a:ext cx="4226011" cy="2329589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1353" y="4376381"/>
            <a:ext cx="2324100" cy="1038225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1703238" y="1744011"/>
            <a:ext cx="412091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zh-TW" sz="2400" dirty="0"/>
              <a:t>Deviation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/>
              <a:t>Flash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/>
              <a:t>Location : \n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/>
              <a:t>Fluency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/>
              <a:t>Command </a:t>
            </a:r>
            <a:r>
              <a:rPr lang="en-US" altLang="zh-TW" sz="2400" dirty="0" smtClean="0"/>
              <a:t>detect</a:t>
            </a:r>
          </a:p>
          <a:p>
            <a:r>
              <a:rPr lang="en-US" altLang="zh-TW" sz="2400" dirty="0"/>
              <a:t> </a:t>
            </a:r>
            <a:r>
              <a:rPr lang="en-US" altLang="zh-TW" sz="2400" dirty="0" smtClean="0"/>
              <a:t>     (alert or confirm)</a:t>
            </a:r>
            <a:endParaRPr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3006261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69143" y="632348"/>
            <a:ext cx="2259160" cy="768084"/>
          </a:xfrm>
        </p:spPr>
        <p:txBody>
          <a:bodyPr>
            <a:normAutofit/>
          </a:bodyPr>
          <a:lstStyle/>
          <a:p>
            <a:r>
              <a:rPr lang="en-US" altLang="zh-TW" sz="4000" b="1" i="1" dirty="0" smtClean="0">
                <a:solidFill>
                  <a:srgbClr val="0070C0"/>
                </a:solidFill>
                <a:latin typeface="+mn-lt"/>
              </a:rPr>
              <a:t>Solution</a:t>
            </a:r>
            <a:endParaRPr lang="zh-TW" altLang="en-US" sz="4000" b="1" i="1" dirty="0">
              <a:solidFill>
                <a:srgbClr val="0070C0"/>
              </a:solidFill>
              <a:latin typeface="+mn-lt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4523" y="1400432"/>
            <a:ext cx="1100138" cy="1038225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1861750" y="1902941"/>
            <a:ext cx="504155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zh-TW" sz="2400" dirty="0"/>
              <a:t>Command : capture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/>
              <a:t>Flash…………….give up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/>
              <a:t>block letter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/>
              <a:t>Run alone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/>
              <a:t>experience</a:t>
            </a:r>
          </a:p>
          <a:p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5522" y="2226053"/>
            <a:ext cx="1175810" cy="1569766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2097" y="4118932"/>
            <a:ext cx="2077995" cy="2077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354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6000" b="1" i="1" dirty="0" smtClean="0">
                <a:solidFill>
                  <a:srgbClr val="FF000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Only </a:t>
            </a:r>
            <a:r>
              <a:rPr lang="en-US" altLang="zh-TW" sz="6000" b="1" i="1" dirty="0" err="1" smtClean="0">
                <a:solidFill>
                  <a:srgbClr val="FF000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firefox</a:t>
            </a:r>
            <a:r>
              <a:rPr lang="en-US" altLang="zh-TW" sz="6000" b="1" i="1" dirty="0" smtClean="0">
                <a:solidFill>
                  <a:srgbClr val="FF000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 ?</a:t>
            </a:r>
            <a:endParaRPr lang="zh-TW" altLang="en-US" sz="6000" b="1" i="1" dirty="0">
              <a:solidFill>
                <a:srgbClr val="FF0000"/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669" y="1905000"/>
            <a:ext cx="3911449" cy="2346869"/>
          </a:xfrm>
          <a:prstGeom prst="rect">
            <a:avLst/>
          </a:prstGeom>
        </p:spPr>
      </p:pic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0216" y="4439301"/>
            <a:ext cx="1926123" cy="1926123"/>
          </a:xfrm>
        </p:spPr>
      </p:pic>
      <p:pic>
        <p:nvPicPr>
          <p:cNvPr id="6" name="內容版面配置區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5180" y="3562228"/>
            <a:ext cx="1379281" cy="1379281"/>
          </a:xfrm>
          <a:prstGeom prst="rect">
            <a:avLst/>
          </a:prstGeom>
        </p:spPr>
      </p:pic>
      <p:cxnSp>
        <p:nvCxnSpPr>
          <p:cNvPr id="10" name="直線單箭頭接點 9"/>
          <p:cNvCxnSpPr/>
          <p:nvPr/>
        </p:nvCxnSpPr>
        <p:spPr>
          <a:xfrm flipV="1">
            <a:off x="5404389" y="3163330"/>
            <a:ext cx="1375352" cy="65078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>
            <a:off x="5404389" y="4786184"/>
            <a:ext cx="1375352" cy="61617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8121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6000" i="1" dirty="0" smtClean="0">
                <a:latin typeface="新細明體" pitchFamily="18" charset="-120"/>
                <a:ea typeface="新細明體" pitchFamily="18" charset="-120"/>
              </a:rPr>
              <a:t>How to install? </a:t>
            </a:r>
            <a:r>
              <a:rPr lang="en-US" altLang="zh-TW" sz="2000" dirty="0" smtClean="0">
                <a:solidFill>
                  <a:srgbClr val="0070C0"/>
                </a:solidFill>
              </a:rPr>
              <a:t>(using python)</a:t>
            </a:r>
            <a:endParaRPr lang="zh-TW" altLang="en-US" sz="2000" dirty="0">
              <a:solidFill>
                <a:srgbClr val="0070C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24239" y="2232454"/>
            <a:ext cx="8915400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400" dirty="0" smtClean="0"/>
              <a:t>1. Install </a:t>
            </a:r>
            <a:r>
              <a:rPr lang="en-US" altLang="zh-TW" sz="2400" dirty="0"/>
              <a:t>Python </a:t>
            </a:r>
            <a:r>
              <a:rPr lang="en-US" altLang="zh-TW" sz="2400" dirty="0" smtClean="0"/>
              <a:t>2.7</a:t>
            </a:r>
          </a:p>
          <a:p>
            <a:pPr marL="0" indent="0">
              <a:buNone/>
            </a:pPr>
            <a:r>
              <a:rPr lang="en-US" altLang="zh-TW" sz="2400" dirty="0" smtClean="0"/>
              <a:t>2. </a:t>
            </a:r>
            <a:r>
              <a:rPr lang="en-US" altLang="zh-TW" sz="2400" dirty="0"/>
              <a:t>Install Selenium 2.44 </a:t>
            </a:r>
            <a:endParaRPr lang="en-US" altLang="zh-TW" sz="2400" dirty="0" smtClean="0"/>
          </a:p>
          <a:p>
            <a:pPr marL="0" indent="0">
              <a:buNone/>
            </a:pPr>
            <a:r>
              <a:rPr lang="en-US" altLang="zh-TW" sz="2400" dirty="0" smtClean="0"/>
              <a:t>3. Install Pip</a:t>
            </a:r>
          </a:p>
          <a:p>
            <a:pPr marL="0" indent="0">
              <a:buNone/>
            </a:pPr>
            <a:r>
              <a:rPr lang="en-US" altLang="zh-TW" sz="2400" dirty="0" smtClean="0"/>
              <a:t>4. Choose browser</a:t>
            </a:r>
          </a:p>
          <a:p>
            <a:pPr marL="0" indent="0">
              <a:buNone/>
            </a:pPr>
            <a:r>
              <a:rPr lang="en-US" altLang="zh-TW" sz="2400" dirty="0" smtClean="0"/>
              <a:t>5. Copy and paste codes</a:t>
            </a:r>
          </a:p>
        </p:txBody>
      </p:sp>
      <p:sp>
        <p:nvSpPr>
          <p:cNvPr id="4" name="文字方塊 3"/>
          <p:cNvSpPr txBox="1"/>
          <p:nvPr/>
        </p:nvSpPr>
        <p:spPr>
          <a:xfrm>
            <a:off x="2323070" y="5379308"/>
            <a:ext cx="62113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i="1" dirty="0" smtClean="0">
                <a:solidFill>
                  <a:srgbClr val="FF0000"/>
                </a:solidFill>
              </a:rPr>
              <a:t>Enjoy and finish ! !</a:t>
            </a:r>
            <a:endParaRPr lang="zh-TW" altLang="en-US" sz="4000" i="1" dirty="0">
              <a:solidFill>
                <a:srgbClr val="FF0000"/>
              </a:solidFill>
            </a:endParaRPr>
          </a:p>
        </p:txBody>
      </p:sp>
      <p:cxnSp>
        <p:nvCxnSpPr>
          <p:cNvPr id="5" name="直線接點 4"/>
          <p:cNvCxnSpPr/>
          <p:nvPr/>
        </p:nvCxnSpPr>
        <p:spPr>
          <a:xfrm flipH="1">
            <a:off x="3309922" y="5379308"/>
            <a:ext cx="4135305" cy="707886"/>
          </a:xfrm>
          <a:prstGeom prst="line">
            <a:avLst/>
          </a:prstGeom>
          <a:ln w="1270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接點 5"/>
          <p:cNvCxnSpPr/>
          <p:nvPr/>
        </p:nvCxnSpPr>
        <p:spPr>
          <a:xfrm>
            <a:off x="3342872" y="5379308"/>
            <a:ext cx="4102355" cy="765551"/>
          </a:xfrm>
          <a:prstGeom prst="line">
            <a:avLst/>
          </a:prstGeom>
          <a:ln w="1270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5566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9646" y="864974"/>
            <a:ext cx="4462160" cy="2677296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7487" y="4368113"/>
            <a:ext cx="988025" cy="988025"/>
          </a:xfrm>
          <a:prstGeom prst="rect">
            <a:avLst/>
          </a:prstGeom>
        </p:spPr>
      </p:pic>
      <p:pic>
        <p:nvPicPr>
          <p:cNvPr id="6" name="內容版面配置區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778" y="2017376"/>
            <a:ext cx="3205413" cy="3205413"/>
          </a:xfrm>
          <a:prstGeom prst="rect">
            <a:avLst/>
          </a:prstGeom>
        </p:spPr>
      </p:pic>
      <p:cxnSp>
        <p:nvCxnSpPr>
          <p:cNvPr id="9" name="直線接點 8"/>
          <p:cNvCxnSpPr/>
          <p:nvPr/>
        </p:nvCxnSpPr>
        <p:spPr>
          <a:xfrm flipH="1">
            <a:off x="7265773" y="2150076"/>
            <a:ext cx="2899632" cy="2947218"/>
          </a:xfrm>
          <a:prstGeom prst="line">
            <a:avLst/>
          </a:prstGeom>
          <a:ln w="1270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7327083" y="2223286"/>
            <a:ext cx="2838321" cy="2874008"/>
          </a:xfrm>
          <a:prstGeom prst="line">
            <a:avLst/>
          </a:prstGeom>
          <a:ln w="1270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5846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05232" y="1383957"/>
            <a:ext cx="2710249" cy="22901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4000" dirty="0" smtClean="0"/>
              <a:t>IE 7 ~ IE 10</a:t>
            </a:r>
          </a:p>
          <a:p>
            <a:pPr marL="0" indent="0">
              <a:buNone/>
            </a:pPr>
            <a:endParaRPr lang="en-US" altLang="zh-TW" sz="4000" dirty="0" smtClean="0"/>
          </a:p>
          <a:p>
            <a:pPr marL="0" indent="0">
              <a:buNone/>
            </a:pPr>
            <a:r>
              <a:rPr lang="en-US" altLang="zh-TW" sz="4000" dirty="0" smtClean="0"/>
              <a:t>IE 11</a:t>
            </a:r>
            <a:endParaRPr lang="zh-TW" altLang="en-US" sz="4000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598" y="620253"/>
            <a:ext cx="4744112" cy="5963482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1861751" y="4143632"/>
            <a:ext cx="2356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>
                <a:solidFill>
                  <a:srgbClr val="FF0000"/>
                </a:solidFill>
              </a:rPr>
              <a:t>regedit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0952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575959" y="1556950"/>
            <a:ext cx="8915400" cy="5301049"/>
          </a:xfrm>
        </p:spPr>
        <p:txBody>
          <a:bodyPr/>
          <a:lstStyle/>
          <a:p>
            <a:r>
              <a:rPr lang="en-US" altLang="zh-TW" dirty="0"/>
              <a:t>http://www.seleniumhq.org/projects/ide</a:t>
            </a:r>
            <a:r>
              <a:rPr lang="en-US" altLang="zh-TW" dirty="0" smtClean="0"/>
              <a:t>/</a:t>
            </a:r>
          </a:p>
          <a:p>
            <a:r>
              <a:rPr lang="en-US" altLang="zh-TW" dirty="0" smtClean="0"/>
              <a:t>https</a:t>
            </a:r>
            <a:r>
              <a:rPr lang="en-US" altLang="zh-TW" dirty="0"/>
              <a:t>://www.mozilla.org/en-US/mobile/35.0beta/releasenotes/</a:t>
            </a:r>
          </a:p>
          <a:p>
            <a:r>
              <a:rPr lang="en-US" altLang="zh-TW" dirty="0" smtClean="0"/>
              <a:t>http</a:t>
            </a:r>
            <a:r>
              <a:rPr lang="en-US" altLang="zh-TW" dirty="0"/>
              <a:t>://jagayoung.blogspot.tw/2013_05_01_archive.html</a:t>
            </a:r>
          </a:p>
          <a:p>
            <a:r>
              <a:rPr lang="en-US" altLang="zh-TW" dirty="0" smtClean="0"/>
              <a:t>http</a:t>
            </a:r>
            <a:r>
              <a:rPr lang="en-US" altLang="zh-TW" dirty="0"/>
              <a:t>://</a:t>
            </a:r>
            <a:r>
              <a:rPr lang="en-US" altLang="zh-TW" dirty="0" smtClean="0"/>
              <a:t>vovo2000.com/phpbb2/viewtopic-354204.html</a:t>
            </a:r>
          </a:p>
          <a:p>
            <a:r>
              <a:rPr lang="en-US" altLang="zh-TW" dirty="0"/>
              <a:t>http://en.paperblog.com/selenium-rc-tutorial-396114</a:t>
            </a:r>
            <a:r>
              <a:rPr lang="en-US" altLang="zh-TW" dirty="0" smtClean="0"/>
              <a:t>/</a:t>
            </a:r>
          </a:p>
          <a:p>
            <a:r>
              <a:rPr lang="en-US" altLang="zh-TW" dirty="0"/>
              <a:t>http://python.en.softonic.com</a:t>
            </a:r>
            <a:r>
              <a:rPr lang="en-US" altLang="zh-TW" dirty="0" smtClean="0"/>
              <a:t>/</a:t>
            </a:r>
          </a:p>
          <a:p>
            <a:r>
              <a:rPr lang="en-US" altLang="zh-TW" dirty="0"/>
              <a:t>http://</a:t>
            </a:r>
            <a:r>
              <a:rPr lang="en-US" altLang="zh-TW" dirty="0" smtClean="0"/>
              <a:t>ithelp.ithome.com.tw/question/10127659</a:t>
            </a:r>
          </a:p>
          <a:p>
            <a:r>
              <a:rPr lang="en-US" altLang="zh-TW" dirty="0"/>
              <a:t>http://buzzorange.com/techorange/2014/01/28/learn-programming-languages</a:t>
            </a:r>
            <a:r>
              <a:rPr lang="en-US" altLang="zh-TW" dirty="0" smtClean="0"/>
              <a:t>/</a:t>
            </a:r>
          </a:p>
          <a:p>
            <a:r>
              <a:rPr lang="en-US" altLang="zh-TW" dirty="0"/>
              <a:t>http://</a:t>
            </a:r>
            <a:r>
              <a:rPr lang="en-US" altLang="zh-TW" dirty="0" smtClean="0"/>
              <a:t>www.tutorialspoint.com/csharp/csharp_basic_syntax.htm</a:t>
            </a:r>
          </a:p>
          <a:p>
            <a:r>
              <a:rPr lang="en-US" altLang="zh-TW" dirty="0"/>
              <a:t>http://</a:t>
            </a:r>
            <a:r>
              <a:rPr lang="en-US" altLang="zh-TW" dirty="0" smtClean="0"/>
              <a:t>fanny108.mysinablog.com/index.php?op=ViewArticle&amp;articleId=2233445</a:t>
            </a:r>
          </a:p>
          <a:p>
            <a:r>
              <a:rPr lang="en-US" altLang="zh-TW" dirty="0"/>
              <a:t>http://</a:t>
            </a:r>
            <a:r>
              <a:rPr lang="en-US" altLang="zh-TW" dirty="0" smtClean="0"/>
              <a:t>thedroidguy.com/2014/05/vgoogle-chrome-updated-with-many-new-features-92318</a:t>
            </a:r>
          </a:p>
        </p:txBody>
      </p:sp>
      <p:sp>
        <p:nvSpPr>
          <p:cNvPr id="4" name="文字方塊 3"/>
          <p:cNvSpPr txBox="1"/>
          <p:nvPr/>
        </p:nvSpPr>
        <p:spPr>
          <a:xfrm>
            <a:off x="1688757" y="403654"/>
            <a:ext cx="53051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0" b="1" i="1" u="sng" dirty="0">
                <a:solidFill>
                  <a:srgbClr val="FF0000"/>
                </a:solidFill>
              </a:rPr>
              <a:t>Data Source</a:t>
            </a:r>
            <a:endParaRPr lang="zh-TW" altLang="en-US" sz="6000" b="1" i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6105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4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6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2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08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4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40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5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5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5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6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6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7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2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8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8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968843" y="642551"/>
            <a:ext cx="9535769" cy="5268671"/>
          </a:xfrm>
        </p:spPr>
        <p:txBody>
          <a:bodyPr/>
          <a:lstStyle/>
          <a:p>
            <a:r>
              <a:rPr lang="en-US" altLang="zh-TW" dirty="0"/>
              <a:t>http://</a:t>
            </a:r>
            <a:r>
              <a:rPr lang="en-US" altLang="zh-TW" dirty="0" smtClean="0"/>
              <a:t>www.iconpng.com/tag</a:t>
            </a:r>
          </a:p>
          <a:p>
            <a:r>
              <a:rPr lang="en-US" altLang="zh-TW" dirty="0"/>
              <a:t>http://</a:t>
            </a:r>
            <a:r>
              <a:rPr lang="en-US" altLang="zh-TW" dirty="0" smtClean="0"/>
              <a:t>www.wpclipart.com/computer/keyboard_keys/function_key_row/computer_key_Print_Screen.png.html</a:t>
            </a:r>
          </a:p>
          <a:p>
            <a:r>
              <a:rPr lang="en-US" altLang="zh-TW" dirty="0"/>
              <a:t>http://www.baike.com/wiki/%</a:t>
            </a:r>
            <a:r>
              <a:rPr lang="en-US" altLang="zh-TW" dirty="0" smtClean="0"/>
              <a:t>E5%A4%A7%E5%86%99</a:t>
            </a:r>
          </a:p>
          <a:p>
            <a:r>
              <a:rPr lang="en-US" altLang="zh-TW" dirty="0"/>
              <a:t>http://phiphicake.blogspot.tw/2014/09/blog-post_29.html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1949904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絲縷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Wisp" id="{7CB32D59-10C0-40DD-B7BD-2E94284A981C}" vid="{24B1A44C-C006-48B2-A4D7-E5549B3D8CD4}"/>
    </a:ext>
  </a:extLst>
</a:theme>
</file>